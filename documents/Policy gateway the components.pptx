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supports the eight-slide summary. It opens with the architecture, then gives one slide to each of the fifteen components, all in the same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from the left. People use the console, which starts tasks in the agent runtime. A LangGraph workflow can also drive the agents through the runtime's bridge. Every model call and tool call then goes to the policy gateway. The gateway consults the control network: identity, policy, ledger, working memory and its own checking model. Only then does a call reach a tool, or the model adapter, which serves either the local model or the external provider. The provisioner sits on both the agents and control networks, since agents ask it for tokens. The verifier is not a service: it reads the ledger files with no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outcomes: deny, refer to a person (hold or flag), allow. Default deny. If identity, policy, store or ledger cannot be reached, the answer is deny. After allowing a model call it asks the checking model whether the request fits its purpose, without delaying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written in Rego. Changing who may do what is a change to the registry file followed by a restart of the engine: no code changes. Chapter 6 claims under 0.1 ms for policy decisions, which this build does 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stolen token is of little use: it works for one tool, expires in 15 minutes, and needs a fresh proof signed with the agent's private key for each call. A proof made for another address, or used twice, is refused. Tessera's delegation feature is not used in this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design decision at stage 2. Tessera's admin key can register any agent and issue any token, so it should not sit in the gateway, which faces agents. The provisioner is a few hundred lines with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is the bottleneck. Write time grows by about 0.045 ms per entry, and writes are serialised, so more gateway workers make things worse. It rotates at 10,000 entries, after which its own check reports the chain invalid although it is continuous. It also reports invalid after a clock step, which happened here through dual-booting. Timestamps come from the host clock and are not protected by the chain. The patch makes its rate limit configurable.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 has to outlive the request that created it: the agent's call returns "held", a reviewer decides minutes later, and the agent asks again. Valkey records the hold and releases it in one atomic step, so two simultaneous attempts cannot both succeed. Valkey is the open-source continuation of Redis under the Linux Foundation, chosen after Redis changed its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with the ledger is deliberate. Losing telemetry costs visibility, so the gateway carries on. Losing the audit record costs accountability, so the gateway refuses. Chapter 6 describes the collector as a sidecar feeding dashboards: this build has one collector writing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checks the purpose code and cannot read a request, so an approved purpose could be declared for anything. This component reads the request. Its verdict goes to the ledger whatever it is, and for a flagged request the words of the request are kept too. It sits on the control network so the judge is separate from the judged: an agent cannot query it, probe it or crowd it out. It reads the request, so a request can try to argue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external provider is Anthropic's Claude Haiku. We use the LiteLLM library inside our own small service and not the LiteLLM proxy, because the proxy pulls in an enterprise package. Provider error text is never passed back, since it can echo request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between this model and the external provider trades confidentiality against reliability, and it is a governance decision made in the registry. The invented figures were stopped only because the export that followed was held for a reviewer. The model is downloaded once by a separate container, the only time its storage meets the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exists because agent frameworks speak two standard protocols and the gateway speaks neither: it requires a token, a proof of key and a declared purpose. The bridge adds those and decides nothing. When a call is held, the bridge waits about 40 seconds for a reviewer, then tells the caller the call is waiting. Repeating the call asks about the same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stands for any application that speaks the two standard protocols. A visual builder, Flowise, was also added and then removed: the console already covers giving tasks and replying. The workflow's acceptance test runs it twice with a stand-in model, once with the export approved and once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makes no decisions: tasks go to the agent runtime and review decisions go to the gateway. An optional rule stops anyone approving a call made on their own behalf. Agents share its network, so the accounts' passwords are what protect it from them. Three test accounts exist while testing is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real deployment each tool would be registered with its own address in the registry, and the gateway would hold whatever credential that tool requires. Replacing these stand-ins with real tools and real registry values is open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alterations were: a refusal rewritten to "allowed", an entry deleted, and an entry rewritten with its hash recomputed without the ledger's secret. The trace identifier shown on each step in the console is accepted by the audit trail tool, which is the link from the page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B84B"/>
                </a:solidFill>
                <a:latin typeface="Arial" pitchFamily="34" charset="0"/>
                <a:ea typeface="Arial" pitchFamily="34" charset="-122"/>
                <a:cs typeface="Arial" pitchFamily="34" charset="-120"/>
              </a:rPr>
              <a:t>Runtime cybersecurity governance for AI</a:t>
            </a:r>
            <a:endParaRPr lang="en-US" sz="1400" dirty="0"/>
          </a:p>
        </p:txBody>
      </p:sp>
      <p:sp>
        <p:nvSpPr>
          <p:cNvPr id="3" name="Text 1"/>
          <p:cNvSpPr/>
          <p:nvPr>
            <p:ph type="title"/>
          </p:nvPr>
        </p:nvSpPr>
        <p:spPr>
          <a:xfrm>
            <a:off x="812800" y="2067560"/>
            <a:ext cx="9810750"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6FA"/>
                </a:solidFill>
                <a:latin typeface="Arial" pitchFamily="34" charset="0"/>
                <a:ea typeface="Arial" pitchFamily="34" charset="-122"/>
                <a:cs typeface="Arial" pitchFamily="34" charset="-120"/>
              </a:rPr>
              <a:t>The policy gateway: its components</a:t>
            </a:r>
            <a:endParaRPr lang="en-US" sz="5600" dirty="0"/>
          </a:p>
        </p:txBody>
      </p:sp>
      <p:sp>
        <p:nvSpPr>
          <p:cNvPr id="4" name="Text 2"/>
          <p:cNvSpPr/>
          <p:nvPr/>
        </p:nvSpPr>
        <p:spPr>
          <a:xfrm>
            <a:off x="812800" y="3815080"/>
            <a:ext cx="91567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6"/>
                </a:solidFill>
                <a:latin typeface="Arial" pitchFamily="34" charset="0"/>
                <a:ea typeface="Arial" pitchFamily="34" charset="-122"/>
                <a:cs typeface="Arial" pitchFamily="34" charset="-120"/>
              </a:rPr>
              <a:t>What each one does, what it holds, who can reach it, and what happens without it</a:t>
            </a:r>
            <a:endParaRPr lang="en-US" sz="2200" dirty="0"/>
          </a:p>
        </p:txBody>
      </p:sp>
      <p:sp>
        <p:nvSpPr>
          <p:cNvPr id="5" name="Text 3"/>
          <p:cNvSpPr/>
          <p:nvPr/>
        </p:nvSpPr>
        <p:spPr>
          <a:xfrm>
            <a:off x="812800" y="5547360"/>
            <a:ext cx="254458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Arial" pitchFamily="34" charset="0"/>
                <a:ea typeface="Arial" pitchFamily="34" charset="-122"/>
                <a:cs typeface="Arial" pitchFamily="34" charset="-120"/>
              </a:rPr>
              <a:t>Christophe Hamchin</a:t>
            </a:r>
            <a:endParaRPr lang="en-US" sz="1400" dirty="0"/>
          </a:p>
          <a:p>
            <a:pPr algn="l" indent="0" marL="0">
              <a:lnSpc>
                <a:spcPts val="1960"/>
              </a:lnSpc>
              <a:buNone/>
            </a:pPr>
            <a:r>
              <a:rPr lang="en-US" sz="1400" dirty="0">
                <a:solidFill>
                  <a:srgbClr val="C9D3E6"/>
                </a:solidFill>
                <a:latin typeface="Arial" pitchFamily="34" charset="0"/>
                <a:ea typeface="Arial" pitchFamily="34" charset="-122"/>
                <a:cs typeface="Arial" pitchFamily="34" charset="-120"/>
              </a:rPr>
              <a:t>NUS capstone, 5 October 2026</a:t>
            </a:r>
            <a:endParaRPr lang="en-US" sz="1400" dirty="0"/>
          </a:p>
        </p:txBody>
      </p:sp>
      <p:sp>
        <p:nvSpPr>
          <p:cNvPr id="6" name="Text 4"/>
          <p:cNvSpPr/>
          <p:nvPr/>
        </p:nvSpPr>
        <p:spPr>
          <a:xfrm>
            <a:off x="7789119" y="5547360"/>
            <a:ext cx="3590081"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6"/>
                </a:solidFill>
                <a:latin typeface="Arial" pitchFamily="34" charset="0"/>
                <a:ea typeface="Arial" pitchFamily="34" charset="-122"/>
                <a:cs typeface="Arial" pitchFamily="34" charset="-120"/>
              </a:rPr>
              <a:t>Supporting deck to</a:t>
            </a:r>
            <a:endParaRPr lang="en-US" sz="1400" dirty="0"/>
          </a:p>
          <a:p>
            <a:pPr algn="r" indent="0" marL="0">
              <a:lnSpc>
                <a:spcPts val="1960"/>
              </a:lnSpc>
              <a:buNone/>
            </a:pPr>
            <a:r>
              <a:rPr lang="en-US" sz="1400" dirty="0">
                <a:solidFill>
                  <a:srgbClr val="C9D3E6"/>
                </a:solidFill>
                <a:latin typeface="Arial" pitchFamily="34" charset="0"/>
                <a:ea typeface="Arial" pitchFamily="34" charset="-122"/>
                <a:cs typeface="Arial" pitchFamily="34" charset="-120"/>
              </a:rPr>
              <a:t>"Policy gateway: design and build summary"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Arial" pitchFamily="34" charset="0"/>
                <a:ea typeface="Arial" pitchFamily="34" charset="-122"/>
                <a:cs typeface="Arial" pitchFamily="34" charset="-120"/>
              </a:rPr>
              <a:t>The components around the policy gateway</a:t>
            </a:r>
            <a:endParaRPr lang="en-US" sz="2800" dirty="0"/>
          </a:p>
        </p:txBody>
      </p:sp>
      <p:pic>
        <p:nvPicPr>
          <p:cNvPr id="3" name="Image 0" descr="connector">    </p:cNvPr>
          <p:cNvPicPr>
            <a:picLocks noChangeAspect="1"/>
          </p:cNvPicPr>
          <p:nvPr/>
        </p:nvPicPr>
        <p:blipFill>
          <a:blip r:embed="rId1"/>
          <a:srcRect l="0" r="0" t="0" b="0"/>
          <a:stretch/>
        </p:blipFill>
        <p:spPr>
          <a:xfrm>
            <a:off x="2527300" y="1841500"/>
            <a:ext cx="711200" cy="381000"/>
          </a:xfrm>
          <a:prstGeom prst="rect">
            <a:avLst/>
          </a:prstGeom>
        </p:spPr>
      </p:pic>
      <p:pic>
        <p:nvPicPr>
          <p:cNvPr id="4" name="Image 1" descr="connector">    </p:cNvPr>
          <p:cNvPicPr>
            <a:picLocks noChangeAspect="1"/>
          </p:cNvPicPr>
          <p:nvPr/>
        </p:nvPicPr>
        <p:blipFill>
          <a:blip r:embed="rId2"/>
          <a:srcRect l="0" r="0" t="0" b="0"/>
          <a:stretch/>
        </p:blipFill>
        <p:spPr>
          <a:xfrm>
            <a:off x="2527300" y="2540000"/>
            <a:ext cx="711200" cy="254000"/>
          </a:xfrm>
          <a:prstGeom prst="rect">
            <a:avLst/>
          </a:prstGeom>
        </p:spPr>
      </p:pic>
      <p:pic>
        <p:nvPicPr>
          <p:cNvPr id="5" name="Image 2" descr="connector">    </p:cNvPr>
          <p:cNvPicPr>
            <a:picLocks noChangeAspect="1"/>
          </p:cNvPicPr>
          <p:nvPr/>
        </p:nvPicPr>
        <p:blipFill>
          <a:blip r:embed="rId3"/>
          <a:srcRect l="0" r="0" t="0" b="0"/>
          <a:stretch/>
        </p:blipFill>
        <p:spPr>
          <a:xfrm>
            <a:off x="1638300" y="3009900"/>
            <a:ext cx="127000" cy="292100"/>
          </a:xfrm>
          <a:prstGeom prst="rect">
            <a:avLst/>
          </a:prstGeom>
        </p:spPr>
      </p:pic>
      <p:pic>
        <p:nvPicPr>
          <p:cNvPr id="6" name="Image 3" descr="connector">    </p:cNvPr>
          <p:cNvPicPr>
            <a:picLocks noChangeAspect="1"/>
          </p:cNvPicPr>
          <p:nvPr/>
        </p:nvPicPr>
        <p:blipFill>
          <a:blip r:embed="rId4"/>
          <a:srcRect l="0" r="0" t="0" b="0"/>
          <a:stretch/>
        </p:blipFill>
        <p:spPr>
          <a:xfrm>
            <a:off x="8445500" y="1841500"/>
            <a:ext cx="901700" cy="317500"/>
          </a:xfrm>
          <a:prstGeom prst="rect">
            <a:avLst/>
          </a:prstGeom>
        </p:spPr>
      </p:pic>
      <p:pic>
        <p:nvPicPr>
          <p:cNvPr id="7" name="Image 4" descr="connector">    </p:cNvPr>
          <p:cNvPicPr>
            <a:picLocks noChangeAspect="1"/>
          </p:cNvPicPr>
          <p:nvPr/>
        </p:nvPicPr>
        <p:blipFill>
          <a:blip r:embed="rId5"/>
          <a:srcRect l="0" r="0" t="0" b="0"/>
          <a:stretch/>
        </p:blipFill>
        <p:spPr>
          <a:xfrm>
            <a:off x="8445500" y="2603500"/>
            <a:ext cx="901700" cy="393700"/>
          </a:xfrm>
          <a:prstGeom prst="rect">
            <a:avLst/>
          </a:prstGeom>
        </p:spPr>
      </p:pic>
      <p:pic>
        <p:nvPicPr>
          <p:cNvPr id="8" name="Image 5" descr="connector">    </p:cNvPr>
          <p:cNvPicPr>
            <a:picLocks noChangeAspect="1"/>
          </p:cNvPicPr>
          <p:nvPr/>
        </p:nvPicPr>
        <p:blipFill>
          <a:blip r:embed="rId6"/>
          <a:srcRect l="0" r="0" t="0" b="0"/>
          <a:stretch/>
        </p:blipFill>
        <p:spPr>
          <a:xfrm>
            <a:off x="9588500" y="3213100"/>
            <a:ext cx="127000" cy="1231900"/>
          </a:xfrm>
          <a:prstGeom prst="rect">
            <a:avLst/>
          </a:prstGeom>
        </p:spPr>
      </p:pic>
      <p:pic>
        <p:nvPicPr>
          <p:cNvPr id="9" name="Image 6" descr="connector">    </p:cNvPr>
          <p:cNvPicPr>
            <a:picLocks noChangeAspect="1"/>
          </p:cNvPicPr>
          <p:nvPr/>
        </p:nvPicPr>
        <p:blipFill>
          <a:blip r:embed="rId7"/>
          <a:srcRect l="0" r="0" t="0" b="0"/>
          <a:stretch/>
        </p:blipFill>
        <p:spPr>
          <a:xfrm>
            <a:off x="10604500" y="3213100"/>
            <a:ext cx="127000" cy="342900"/>
          </a:xfrm>
          <a:prstGeom prst="rect">
            <a:avLst/>
          </a:prstGeom>
        </p:spPr>
      </p:pic>
      <p:pic>
        <p:nvPicPr>
          <p:cNvPr id="10" name="Image 7" descr="connector">    </p:cNvPr>
          <p:cNvPicPr>
            <a:picLocks noChangeAspect="1"/>
          </p:cNvPicPr>
          <p:nvPr/>
        </p:nvPicPr>
        <p:blipFill>
          <a:blip r:embed="rId8"/>
          <a:srcRect l="0" r="0" t="0" b="0"/>
          <a:stretch/>
        </p:blipFill>
        <p:spPr>
          <a:xfrm>
            <a:off x="5778500" y="2921000"/>
            <a:ext cx="127000" cy="698500"/>
          </a:xfrm>
          <a:prstGeom prst="rect">
            <a:avLst/>
          </a:prstGeom>
        </p:spPr>
      </p:pic>
      <p:sp>
        <p:nvSpPr>
          <p:cNvPr id="11" name="Text 1"/>
          <p:cNvSpPr/>
          <p:nvPr/>
        </p:nvSpPr>
        <p:spPr>
          <a:xfrm>
            <a:off x="812800" y="12954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80"/>
                </a:solidFill>
                <a:latin typeface="Arial" pitchFamily="34" charset="0"/>
                <a:ea typeface="Arial" pitchFamily="34" charset="-122"/>
                <a:cs typeface="Arial" pitchFamily="34" charset="-120"/>
              </a:rPr>
              <a:t>Agents network</a:t>
            </a:r>
            <a:endParaRPr lang="en-US" sz="1200" dirty="0"/>
          </a:p>
        </p:txBody>
      </p:sp>
      <p:sp>
        <p:nvSpPr>
          <p:cNvPr id="12" name="Text 2"/>
          <p:cNvSpPr/>
          <p:nvPr/>
        </p:nvSpPr>
        <p:spPr>
          <a:xfrm>
            <a:off x="815975" y="1590675"/>
            <a:ext cx="1771650" cy="429895"/>
          </a:xfrm>
          <a:prstGeom prst="roundRect">
            <a:avLst>
              <a:gd name="adj" fmla="val 14032"/>
            </a:avLst>
          </a:prstGeom>
          <a:solidFill>
            <a:srgbClr val="FFFFFF"/>
          </a:solidFill>
          <a:ln w="6350">
            <a:solidFill>
              <a:srgbClr val="D5DBE5"/>
            </a:solidFill>
            <a:prstDash val="solid"/>
          </a:ln>
        </p:spPr>
        <p:txBody>
          <a:bodyPr wrap="square" lIns="110919" tIns="98219" rIns="60119"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Console, for people</a:t>
            </a:r>
            <a:endParaRPr lang="en-US" sz="1200" dirty="0"/>
          </a:p>
        </p:txBody>
      </p:sp>
      <p:sp>
        <p:nvSpPr>
          <p:cNvPr id="13" name="Text 3"/>
          <p:cNvSpPr/>
          <p:nvPr/>
        </p:nvSpPr>
        <p:spPr>
          <a:xfrm>
            <a:off x="815975" y="2416175"/>
            <a:ext cx="1771650" cy="628015"/>
          </a:xfrm>
          <a:prstGeom prst="roundRect">
            <a:avLst>
              <a:gd name="adj" fmla="val 9606"/>
            </a:avLst>
          </a:prstGeom>
          <a:solidFill>
            <a:srgbClr val="FFFFFF"/>
          </a:solidFill>
          <a:ln w="6350">
            <a:solidFill>
              <a:srgbClr val="D5DBE5"/>
            </a:solidFill>
            <a:prstDash val="solid"/>
          </a:ln>
        </p:spPr>
        <p:txBody>
          <a:bodyPr wrap="square" lIns="110919" tIns="98219" rIns="60119"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Agent runtime and bridge</a:t>
            </a:r>
            <a:endParaRPr lang="en-US" sz="1200" dirty="0"/>
          </a:p>
        </p:txBody>
      </p:sp>
      <p:sp>
        <p:nvSpPr>
          <p:cNvPr id="14" name="Text 4"/>
          <p:cNvSpPr/>
          <p:nvPr/>
        </p:nvSpPr>
        <p:spPr>
          <a:xfrm>
            <a:off x="815975" y="3241675"/>
            <a:ext cx="1771650" cy="628015"/>
          </a:xfrm>
          <a:prstGeom prst="roundRect">
            <a:avLst>
              <a:gd name="adj" fmla="val 9606"/>
            </a:avLst>
          </a:prstGeom>
          <a:solidFill>
            <a:srgbClr val="FFFFFF"/>
          </a:solidFill>
          <a:ln w="6350">
            <a:solidFill>
              <a:srgbClr val="D5DBE5"/>
            </a:solidFill>
            <a:prstDash val="solid"/>
          </a:ln>
        </p:spPr>
        <p:txBody>
          <a:bodyPr wrap="square" lIns="110919" tIns="98219" rIns="60119"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LangGraph workflow</a:t>
            </a:r>
            <a:endParaRPr lang="en-US" sz="1200" dirty="0"/>
          </a:p>
        </p:txBody>
      </p:sp>
      <p:sp>
        <p:nvSpPr>
          <p:cNvPr id="15" name="Shape 5"/>
          <p:cNvSpPr/>
          <p:nvPr/>
        </p:nvSpPr>
        <p:spPr>
          <a:xfrm>
            <a:off x="3175000" y="1841500"/>
            <a:ext cx="5334000" cy="1143000"/>
          </a:xfrm>
          <a:prstGeom prst="roundRect">
            <a:avLst>
              <a:gd name="adj" fmla="val 6667"/>
            </a:avLst>
          </a:prstGeom>
          <a:solidFill>
            <a:srgbClr val="14213D"/>
          </a:solidFill>
          <a:ln/>
        </p:spPr>
      </p:sp>
      <p:sp>
        <p:nvSpPr>
          <p:cNvPr id="16" name="Text 6"/>
          <p:cNvSpPr/>
          <p:nvPr/>
        </p:nvSpPr>
        <p:spPr>
          <a:xfrm>
            <a:off x="3429000" y="2029460"/>
            <a:ext cx="49707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6FA"/>
                </a:solidFill>
                <a:latin typeface="Arial" pitchFamily="34" charset="0"/>
                <a:ea typeface="Arial" pitchFamily="34" charset="-122"/>
                <a:cs typeface="Arial" pitchFamily="34" charset="-120"/>
              </a:rPr>
              <a:t>Policy gateway</a:t>
            </a:r>
            <a:endParaRPr lang="en-US" sz="2000" dirty="0"/>
          </a:p>
        </p:txBody>
      </p:sp>
      <p:sp>
        <p:nvSpPr>
          <p:cNvPr id="17" name="Text 7"/>
          <p:cNvSpPr/>
          <p:nvPr/>
        </p:nvSpPr>
        <p:spPr>
          <a:xfrm>
            <a:off x="3429000" y="2385060"/>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Arial" pitchFamily="34" charset="0"/>
                <a:ea typeface="Arial" pitchFamily="34" charset="-122"/>
                <a:cs typeface="Arial" pitchFamily="34" charset="-120"/>
              </a:rPr>
              <a:t>Verifies the agent, reads the intent, asks policy, records, then allows, refers or denies</a:t>
            </a:r>
            <a:endParaRPr lang="en-US" sz="1200" dirty="0"/>
          </a:p>
        </p:txBody>
      </p:sp>
      <p:sp>
        <p:nvSpPr>
          <p:cNvPr id="18" name="Text 8"/>
          <p:cNvSpPr/>
          <p:nvPr/>
        </p:nvSpPr>
        <p:spPr>
          <a:xfrm>
            <a:off x="9283700" y="12954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80"/>
                </a:solidFill>
                <a:latin typeface="Arial" pitchFamily="34" charset="0"/>
                <a:ea typeface="Arial" pitchFamily="34" charset="-122"/>
                <a:cs typeface="Arial" pitchFamily="34" charset="-120"/>
              </a:rPr>
              <a:t>Tools network</a:t>
            </a:r>
            <a:endParaRPr lang="en-US" sz="1200" dirty="0"/>
          </a:p>
        </p:txBody>
      </p:sp>
      <p:sp>
        <p:nvSpPr>
          <p:cNvPr id="19" name="Text 9"/>
          <p:cNvSpPr/>
          <p:nvPr/>
        </p:nvSpPr>
        <p:spPr>
          <a:xfrm>
            <a:off x="9286875" y="1590675"/>
            <a:ext cx="2089150" cy="429895"/>
          </a:xfrm>
          <a:prstGeom prst="roundRect">
            <a:avLst>
              <a:gd name="adj" fmla="val 14032"/>
            </a:avLst>
          </a:prstGeom>
          <a:solidFill>
            <a:srgbClr val="FFFFFF"/>
          </a:solidFill>
          <a:ln w="6350">
            <a:solidFill>
              <a:srgbClr val="D5DBE5"/>
            </a:solidFill>
            <a:prstDash val="solid"/>
          </a:ln>
        </p:spPr>
        <p:txBody>
          <a:bodyPr wrap="square" lIns="110919" tIns="98219" rIns="55960"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Tools (stand-ins)</a:t>
            </a:r>
            <a:endParaRPr lang="en-US" sz="1200" dirty="0"/>
          </a:p>
        </p:txBody>
      </p:sp>
      <p:sp>
        <p:nvSpPr>
          <p:cNvPr id="20" name="Text 10"/>
          <p:cNvSpPr/>
          <p:nvPr/>
        </p:nvSpPr>
        <p:spPr>
          <a:xfrm>
            <a:off x="9283700" y="23876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80"/>
                </a:solidFill>
                <a:latin typeface="Arial" pitchFamily="34" charset="0"/>
                <a:ea typeface="Arial" pitchFamily="34" charset="-122"/>
                <a:cs typeface="Arial" pitchFamily="34" charset="-120"/>
              </a:rPr>
              <a:t>Models network</a:t>
            </a:r>
            <a:endParaRPr lang="en-US" sz="1200" dirty="0"/>
          </a:p>
        </p:txBody>
      </p:sp>
      <p:sp>
        <p:nvSpPr>
          <p:cNvPr id="21" name="Text 11"/>
          <p:cNvSpPr/>
          <p:nvPr/>
        </p:nvSpPr>
        <p:spPr>
          <a:xfrm>
            <a:off x="9286875" y="2670175"/>
            <a:ext cx="2089150" cy="429895"/>
          </a:xfrm>
          <a:prstGeom prst="roundRect">
            <a:avLst>
              <a:gd name="adj" fmla="val 14032"/>
            </a:avLst>
          </a:prstGeom>
          <a:solidFill>
            <a:srgbClr val="FFFFFF"/>
          </a:solidFill>
          <a:ln w="6350">
            <a:solidFill>
              <a:srgbClr val="D5DBE5"/>
            </a:solidFill>
            <a:prstDash val="solid"/>
          </a:ln>
        </p:spPr>
        <p:txBody>
          <a:bodyPr wrap="square" lIns="110919" tIns="98219" rIns="55960"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Model adapter</a:t>
            </a:r>
            <a:endParaRPr lang="en-US" sz="1200" dirty="0"/>
          </a:p>
        </p:txBody>
      </p:sp>
      <p:sp>
        <p:nvSpPr>
          <p:cNvPr id="22" name="Text 12"/>
          <p:cNvSpPr/>
          <p:nvPr/>
        </p:nvSpPr>
        <p:spPr>
          <a:xfrm>
            <a:off x="9286875" y="3495675"/>
            <a:ext cx="2089150" cy="628015"/>
          </a:xfrm>
          <a:prstGeom prst="roundRect">
            <a:avLst>
              <a:gd name="adj" fmla="val 9606"/>
            </a:avLst>
          </a:prstGeom>
          <a:solidFill>
            <a:srgbClr val="FFFFFF"/>
          </a:solidFill>
          <a:ln w="6350">
            <a:solidFill>
              <a:srgbClr val="D5DBE5"/>
            </a:solidFill>
            <a:prstDash val="solid"/>
          </a:ln>
        </p:spPr>
        <p:txBody>
          <a:bodyPr wrap="square" lIns="110919" tIns="98219" rIns="55960" bIns="728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Agents' local model (Ollama)</a:t>
            </a:r>
            <a:endParaRPr lang="en-US" sz="1200" dirty="0"/>
          </a:p>
        </p:txBody>
      </p:sp>
      <p:sp>
        <p:nvSpPr>
          <p:cNvPr id="23" name="Text 13"/>
          <p:cNvSpPr/>
          <p:nvPr/>
        </p:nvSpPr>
        <p:spPr>
          <a:xfrm>
            <a:off x="9290050" y="4387850"/>
            <a:ext cx="2082800" cy="829310"/>
          </a:xfrm>
          <a:prstGeom prst="roundRect">
            <a:avLst>
              <a:gd name="adj" fmla="val 6891"/>
            </a:avLst>
          </a:prstGeom>
          <a:solidFill>
            <a:srgbClr val="FFF6E5"/>
          </a:solidFill>
          <a:ln w="12700">
            <a:solidFill>
              <a:srgbClr val="B36B00"/>
            </a:solidFill>
            <a:prstDash val="dash"/>
          </a:ln>
        </p:spPr>
        <p:txBody>
          <a:bodyPr wrap="square" lIns="113436" tIns="100736" rIns="58763" bIns="75336" rtlCol="0" anchor="t">
            <a:normAutofit/>
          </a:bodyPr>
          <a:lstStyle/>
          <a:p>
            <a:pPr algn="l" indent="0" marL="0">
              <a:lnSpc>
                <a:spcPts val="1560"/>
              </a:lnSpc>
              <a:buNone/>
            </a:pPr>
            <a:r>
              <a:rPr lang="en-US" sz="1200" b="1" dirty="0">
                <a:solidFill>
                  <a:srgbClr val="8A5200"/>
                </a:solidFill>
                <a:latin typeface="Arial" pitchFamily="34" charset="0"/>
                <a:ea typeface="Arial" pitchFamily="34" charset="-122"/>
                <a:cs typeface="Arial" pitchFamily="34" charset="-120"/>
              </a:rPr>
              <a:t>External provider (Claude Haiku), outside the organisation</a:t>
            </a:r>
            <a:endParaRPr lang="en-US" sz="1200" dirty="0"/>
          </a:p>
        </p:txBody>
      </p:sp>
      <p:sp>
        <p:nvSpPr>
          <p:cNvPr id="24" name="Shape 14"/>
          <p:cNvSpPr/>
          <p:nvPr/>
        </p:nvSpPr>
        <p:spPr>
          <a:xfrm>
            <a:off x="2670175" y="3559175"/>
            <a:ext cx="6343650" cy="1898650"/>
          </a:xfrm>
          <a:prstGeom prst="roundRect">
            <a:avLst>
              <a:gd name="adj" fmla="val 3846"/>
            </a:avLst>
          </a:prstGeom>
          <a:solidFill>
            <a:srgbClr val="EEF1F6"/>
          </a:solidFill>
          <a:ln w="6350">
            <a:solidFill>
              <a:srgbClr val="D5DBE5"/>
            </a:solidFill>
            <a:prstDash val="solid"/>
          </a:ln>
        </p:spPr>
      </p:sp>
      <p:sp>
        <p:nvSpPr>
          <p:cNvPr id="25" name="Text 15"/>
          <p:cNvSpPr/>
          <p:nvPr/>
        </p:nvSpPr>
        <p:spPr>
          <a:xfrm>
            <a:off x="2794000" y="3644900"/>
            <a:ext cx="6278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880"/>
                </a:solidFill>
                <a:latin typeface="Arial" pitchFamily="34" charset="0"/>
                <a:ea typeface="Arial" pitchFamily="34" charset="-122"/>
                <a:cs typeface="Arial" pitchFamily="34" charset="-120"/>
              </a:rPr>
              <a:t>Control network: agents cannot reach anything here</a:t>
            </a:r>
            <a:endParaRPr lang="en-US" sz="1200" dirty="0"/>
          </a:p>
        </p:txBody>
      </p:sp>
      <p:sp>
        <p:nvSpPr>
          <p:cNvPr id="26" name="Text 16"/>
          <p:cNvSpPr/>
          <p:nvPr/>
        </p:nvSpPr>
        <p:spPr>
          <a:xfrm>
            <a:off x="2771775" y="39655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Tessera</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identity</a:t>
            </a:r>
            <a:endParaRPr lang="en-US" sz="1200" dirty="0"/>
          </a:p>
        </p:txBody>
      </p:sp>
      <p:sp>
        <p:nvSpPr>
          <p:cNvPr id="27" name="Text 17"/>
          <p:cNvSpPr/>
          <p:nvPr/>
        </p:nvSpPr>
        <p:spPr>
          <a:xfrm>
            <a:off x="4346575" y="39655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OPA</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policy rules</a:t>
            </a:r>
            <a:endParaRPr lang="en-US" sz="1200" dirty="0"/>
          </a:p>
        </p:txBody>
      </p:sp>
      <p:sp>
        <p:nvSpPr>
          <p:cNvPr id="28" name="Text 18"/>
          <p:cNvSpPr/>
          <p:nvPr/>
        </p:nvSpPr>
        <p:spPr>
          <a:xfrm>
            <a:off x="5921375" y="39655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Vestigia</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audit ledger</a:t>
            </a:r>
            <a:endParaRPr lang="en-US" sz="1200" dirty="0"/>
          </a:p>
        </p:txBody>
      </p:sp>
      <p:sp>
        <p:nvSpPr>
          <p:cNvPr id="29" name="Text 19"/>
          <p:cNvSpPr/>
          <p:nvPr/>
        </p:nvSpPr>
        <p:spPr>
          <a:xfrm>
            <a:off x="7496175" y="3965575"/>
            <a:ext cx="14160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Valkey</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working memory</a:t>
            </a:r>
            <a:endParaRPr lang="en-US" sz="1200" dirty="0"/>
          </a:p>
        </p:txBody>
      </p:sp>
      <p:sp>
        <p:nvSpPr>
          <p:cNvPr id="30" name="Text 20"/>
          <p:cNvSpPr/>
          <p:nvPr/>
        </p:nvSpPr>
        <p:spPr>
          <a:xfrm>
            <a:off x="2771775" y="47148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Provisioner</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tokens</a:t>
            </a:r>
            <a:endParaRPr lang="en-US" sz="1200" dirty="0"/>
          </a:p>
        </p:txBody>
      </p:sp>
      <p:sp>
        <p:nvSpPr>
          <p:cNvPr id="31" name="Text 21"/>
          <p:cNvSpPr/>
          <p:nvPr/>
        </p:nvSpPr>
        <p:spPr>
          <a:xfrm>
            <a:off x="4346575" y="47148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Checker</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purpose fit</a:t>
            </a:r>
            <a:endParaRPr lang="en-US" sz="1200" dirty="0"/>
          </a:p>
        </p:txBody>
      </p:sp>
      <p:sp>
        <p:nvSpPr>
          <p:cNvPr id="32" name="Text 22"/>
          <p:cNvSpPr/>
          <p:nvPr/>
        </p:nvSpPr>
        <p:spPr>
          <a:xfrm>
            <a:off x="5921375" y="4714875"/>
            <a:ext cx="14668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Collector</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telemetry</a:t>
            </a:r>
            <a:endParaRPr lang="en-US" sz="1200" dirty="0"/>
          </a:p>
        </p:txBody>
      </p:sp>
      <p:sp>
        <p:nvSpPr>
          <p:cNvPr id="33" name="Text 23"/>
          <p:cNvSpPr/>
          <p:nvPr/>
        </p:nvSpPr>
        <p:spPr>
          <a:xfrm>
            <a:off x="7496175" y="4714875"/>
            <a:ext cx="1416050" cy="577215"/>
          </a:xfrm>
          <a:prstGeom prst="roundRect">
            <a:avLst>
              <a:gd name="adj" fmla="val 10451"/>
            </a:avLst>
          </a:prstGeom>
          <a:solidFill>
            <a:srgbClr val="FFFFFF"/>
          </a:solidFill>
          <a:ln w="6350">
            <a:solidFill>
              <a:srgbClr val="D5DBE5"/>
            </a:solidFill>
            <a:prstDash val="solid"/>
          </a:ln>
        </p:spPr>
        <p:txBody>
          <a:bodyPr wrap="square" lIns="85519" tIns="72819" rIns="34719" bIns="47419" rtlCol="0" anchor="t">
            <a:normAutofit/>
          </a:bodyPr>
          <a:lstStyle/>
          <a:p>
            <a:pPr algn="l" indent="0" marL="0">
              <a:lnSpc>
                <a:spcPts val="1560"/>
              </a:lnSpc>
              <a:buNone/>
            </a:pPr>
            <a:r>
              <a:rPr lang="en-US" sz="1200" b="1" dirty="0">
                <a:solidFill>
                  <a:srgbClr val="14213D"/>
                </a:solidFill>
                <a:latin typeface="Arial" pitchFamily="34" charset="0"/>
                <a:ea typeface="Arial" pitchFamily="34" charset="-122"/>
                <a:cs typeface="Arial" pitchFamily="34" charset="-120"/>
              </a:rPr>
              <a:t>Verifier</a:t>
            </a:r>
            <a:endParaRPr lang="en-US" sz="1200" dirty="0"/>
          </a:p>
          <a:p>
            <a:pPr algn="l" indent="0" marL="0">
              <a:lnSpc>
                <a:spcPts val="1560"/>
              </a:lnSpc>
              <a:buNone/>
            </a:pPr>
            <a:r>
              <a:rPr lang="en-US" sz="1200" dirty="0">
                <a:solidFill>
                  <a:srgbClr val="14213D"/>
                </a:solidFill>
                <a:latin typeface="Arial" pitchFamily="34" charset="0"/>
                <a:ea typeface="Arial" pitchFamily="34" charset="-122"/>
                <a:cs typeface="Arial" pitchFamily="34" charset="-120"/>
              </a:rPr>
              <a:t>reads the ledger</a:t>
            </a:r>
            <a:endParaRPr lang="en-US" sz="1200" dirty="0"/>
          </a:p>
        </p:txBody>
      </p:sp>
      <p:sp>
        <p:nvSpPr>
          <p:cNvPr id="34" name="Text 2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The gateway is the only component on all four networks. The model adapter alone has a route out.</a:t>
            </a:r>
            <a:endParaRPr lang="en-US" sz="1200" dirty="0"/>
          </a:p>
        </p:txBody>
      </p:sp>
      <p:sp>
        <p:nvSpPr>
          <p:cNvPr id="35" name="Text 2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Policy gateway</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enforcement point: every tool call and model call from an agent arrives here and nowhere else.</a:t>
            </a:r>
            <a:endParaRPr lang="en-US" sz="1600" dirty="0"/>
          </a:p>
        </p:txBody>
      </p:sp>
      <p:sp>
        <p:nvSpPr>
          <p:cNvPr id="4" name="Shape 2"/>
          <p:cNvSpPr/>
          <p:nvPr/>
        </p:nvSpPr>
        <p:spPr>
          <a:xfrm>
            <a:off x="815975" y="2124711"/>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304098"/>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580957"/>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Verifies the agent, reads the declared intent, asks the policy engine, writes the decision to the ledger, then calls the tool or model, holds the call for a reviewer, or refuses it. On a model call it first removes tools outside the agent's role.</a:t>
            </a:r>
            <a:endParaRPr lang="en-US" sz="1200" dirty="0"/>
          </a:p>
        </p:txBody>
      </p:sp>
      <p:sp>
        <p:nvSpPr>
          <p:cNvPr id="7" name="Shape 5"/>
          <p:cNvSpPr/>
          <p:nvPr/>
        </p:nvSpPr>
        <p:spPr>
          <a:xfrm>
            <a:off x="6175375" y="2124711"/>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304098"/>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580957"/>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reviewer key, the ledger's key, the model adapter's key and the store's password. No identity admin key and no provider key.</a:t>
            </a:r>
            <a:endParaRPr lang="en-US" sz="1200" dirty="0"/>
          </a:p>
        </p:txBody>
      </p:sp>
      <p:sp>
        <p:nvSpPr>
          <p:cNvPr id="10" name="Shape 8"/>
          <p:cNvSpPr/>
          <p:nvPr/>
        </p:nvSpPr>
        <p:spPr>
          <a:xfrm>
            <a:off x="815975" y="3772536"/>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951923"/>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2"/>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Agents, on the agents network. It is the only component on all four networks.</a:t>
            </a:r>
            <a:endParaRPr lang="en-US" sz="1200" dirty="0"/>
          </a:p>
        </p:txBody>
      </p:sp>
      <p:sp>
        <p:nvSpPr>
          <p:cNvPr id="13" name="Shape 11"/>
          <p:cNvSpPr/>
          <p:nvPr/>
        </p:nvSpPr>
        <p:spPr>
          <a:xfrm>
            <a:off x="6175375" y="3772536"/>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951923"/>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1C1C"/>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2"/>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Nothing an agent does can proceed. Agents have no other route.</a:t>
            </a:r>
            <a:endParaRPr lang="en-US" sz="1200" dirty="0"/>
          </a:p>
        </p:txBody>
      </p:sp>
      <p:sp>
        <p:nvSpPr>
          <p:cNvPr id="16" name="Text 14"/>
          <p:cNvSpPr/>
          <p:nvPr/>
        </p:nvSpPr>
        <p:spPr>
          <a:xfrm>
            <a:off x="812800" y="5400039"/>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4 to 5 ms for identity, policy and limits, before the audit write.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it verifies the agent, not the person. It does not inspect tool responses.</a:t>
            </a:r>
            <a:endParaRPr lang="en-US" sz="1200" dirty="0"/>
          </a:p>
        </p:txBody>
      </p:sp>
      <p:sp>
        <p:nvSpPr>
          <p:cNvPr id="17" name="Text 15"/>
          <p:cNvSpPr/>
          <p:nvPr/>
        </p:nvSpPr>
        <p:spPr>
          <a:xfrm>
            <a:off x="812800" y="6238239"/>
            <a:ext cx="2998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All four networks.</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Open Policy Agent</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decision point: it holds the rules and the registry, and answers one question per call.</a:t>
            </a:r>
            <a:endParaRPr lang="en-US" sz="1600" dirty="0"/>
          </a:p>
        </p:txBody>
      </p:sp>
      <p:sp>
        <p:nvSpPr>
          <p:cNvPr id="4" name="Shape 2"/>
          <p:cNvSpPr/>
          <p:nvPr/>
        </p:nvSpPr>
        <p:spPr>
          <a:xfrm>
            <a:off x="815975" y="2231389"/>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687638"/>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Evaluates two policies, one for tools and one for models, against a registry of roles, purposes, tools, models and limits. Returns deny, refer or allow with reasons, plus the tools a model may be shown, the token ceiling and the hold timeout.</a:t>
            </a:r>
            <a:endParaRPr lang="en-US" sz="1200" dirty="0"/>
          </a:p>
        </p:txBody>
      </p:sp>
      <p:sp>
        <p:nvSpPr>
          <p:cNvPr id="7" name="Shape 5"/>
          <p:cNvSpPr/>
          <p:nvPr/>
        </p:nvSpPr>
        <p:spPr>
          <a:xfrm>
            <a:off x="6175375" y="2231389"/>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687638"/>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policy files and the registry, mounted read-only. No secrets.</a:t>
            </a:r>
            <a:endParaRPr lang="en-US" sz="1200" dirty="0"/>
          </a:p>
        </p:txBody>
      </p:sp>
      <p:sp>
        <p:nvSpPr>
          <p:cNvPr id="10" name="Shape 8"/>
          <p:cNvSpPr/>
          <p:nvPr/>
        </p:nvSpPr>
        <p:spPr>
          <a:xfrm>
            <a:off x="815975" y="3879214"/>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4058602"/>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335463"/>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a:t>
            </a:r>
            <a:endParaRPr lang="en-US" sz="1200" dirty="0"/>
          </a:p>
        </p:txBody>
      </p:sp>
      <p:sp>
        <p:nvSpPr>
          <p:cNvPr id="13" name="Shape 11"/>
          <p:cNvSpPr/>
          <p:nvPr/>
        </p:nvSpPr>
        <p:spPr>
          <a:xfrm>
            <a:off x="6175375" y="3879214"/>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4058602"/>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1C1C"/>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335463"/>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Every call is denied.</a:t>
            </a:r>
            <a:endParaRPr lang="en-US" sz="1200" dirty="0"/>
          </a:p>
        </p:txBody>
      </p:sp>
      <p:sp>
        <p:nvSpPr>
          <p:cNvPr id="16" name="Text 14"/>
          <p:cNvSpPr/>
          <p:nvPr/>
        </p:nvSpPr>
        <p:spPr>
          <a:xfrm>
            <a:off x="812800" y="5400039"/>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1.1 ms per decision, with 35 policy tests.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it sees the purpose code, not the words of the request. The registry values are examples.</a:t>
            </a:r>
            <a:endParaRPr lang="en-US" sz="1200" dirty="0"/>
          </a:p>
        </p:txBody>
      </p:sp>
      <p:sp>
        <p:nvSpPr>
          <p:cNvPr id="17" name="Text 15"/>
          <p:cNvSpPr/>
          <p:nvPr/>
        </p:nvSpPr>
        <p:spPr>
          <a:xfrm>
            <a:off x="812800" y="6238239"/>
            <a:ext cx="45342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Open Policy Agent 1.19.1, Apache 2.0. Control network.</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Tessera</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identity service: it issues and validates each agent's credentials.</a:t>
            </a:r>
            <a:endParaRPr lang="en-US" sz="1600" dirty="0"/>
          </a:p>
        </p:txBody>
      </p:sp>
      <p:sp>
        <p:nvSpPr>
          <p:cNvPr id="4" name="Shape 2"/>
          <p:cNvSpPr/>
          <p:nvPr/>
        </p:nvSpPr>
        <p:spPr>
          <a:xfrm>
            <a:off x="815975" y="2018029"/>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474277"/>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Issues a signed token valid for one tool, for 15 minutes, bound to the agent's own key. Validates a token together with the agent's proof that it holds that key, made for the gateway's address and usable once. Revokes tokens.</a:t>
            </a:r>
            <a:endParaRPr lang="en-US" sz="1200" dirty="0"/>
          </a:p>
        </p:txBody>
      </p:sp>
      <p:sp>
        <p:nvSpPr>
          <p:cNvPr id="7" name="Shape 5"/>
          <p:cNvSpPr/>
          <p:nvPr/>
        </p:nvSpPr>
        <p:spPr>
          <a:xfrm>
            <a:off x="6175375" y="2018029"/>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474277"/>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token signing secret and the list of registered agents with the tools each may hold tokens for.</a:t>
            </a:r>
            <a:endParaRPr lang="en-US" sz="1200" dirty="0"/>
          </a:p>
        </p:txBody>
      </p:sp>
      <p:sp>
        <p:nvSpPr>
          <p:cNvPr id="10" name="Shape 8"/>
          <p:cNvSpPr/>
          <p:nvPr/>
        </p:nvSpPr>
        <p:spPr>
          <a:xfrm>
            <a:off x="815975" y="3665854"/>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2"/>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to validate. The provisioner, to register agents and issue tokens.</a:t>
            </a:r>
            <a:endParaRPr lang="en-US" sz="1200" dirty="0"/>
          </a:p>
        </p:txBody>
      </p:sp>
      <p:sp>
        <p:nvSpPr>
          <p:cNvPr id="13" name="Shape 11"/>
          <p:cNvSpPr/>
          <p:nvPr/>
        </p:nvSpPr>
        <p:spPr>
          <a:xfrm>
            <a:off x="6175375" y="3665854"/>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1C1C"/>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2"/>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Every call is denied, because no identity can be verified.</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2.9 ms per validation.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its revoke, validate and agent-list endpoints accept calls without a credential, so it must stay unreachable by agents.</a:t>
            </a:r>
            <a:endParaRPr lang="en-US" sz="1200" dirty="0"/>
          </a:p>
        </p:txBody>
      </p:sp>
      <p:sp>
        <p:nvSpPr>
          <p:cNvPr id="17" name="Text 15"/>
          <p:cNvSpPr/>
          <p:nvPr/>
        </p:nvSpPr>
        <p:spPr>
          <a:xfrm>
            <a:off x="812800" y="6238239"/>
            <a:ext cx="48526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ARTO suite, commit b57be5e, Apache 2.0. Control network.</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Provisioner</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Enrols agents and hands out tokens, so the identity admin key lives in one small place.</a:t>
            </a:r>
            <a:endParaRPr lang="en-US" sz="1600" dirty="0"/>
          </a:p>
        </p:txBody>
      </p:sp>
      <p:sp>
        <p:nvSpPr>
          <p:cNvPr id="4" name="Shape 2"/>
          <p:cNvSpPr/>
          <p:nvPr/>
        </p:nvSpPr>
        <p:spPr>
          <a:xfrm>
            <a:off x="815975" y="2231389"/>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687638"/>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Takes an operator's request to enrol an agent with its public key and role. Gives an agent a token when the agent proves it holds the enrolled key: one token per tool, and one for the model path.</a:t>
            </a:r>
            <a:endParaRPr lang="en-US" sz="1200" dirty="0"/>
          </a:p>
        </p:txBody>
      </p:sp>
      <p:sp>
        <p:nvSpPr>
          <p:cNvPr id="7" name="Shape 5"/>
          <p:cNvSpPr/>
          <p:nvPr/>
        </p:nvSpPr>
        <p:spPr>
          <a:xfrm>
            <a:off x="6175375" y="2231389"/>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687638"/>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identity service's admin key and the operator key. It is the only holder of the admin key: neither the gateway nor any agent has it.</a:t>
            </a:r>
            <a:endParaRPr lang="en-US" sz="1200" dirty="0"/>
          </a:p>
        </p:txBody>
      </p:sp>
      <p:sp>
        <p:nvSpPr>
          <p:cNvPr id="10" name="Shape 8"/>
          <p:cNvSpPr/>
          <p:nvPr/>
        </p:nvSpPr>
        <p:spPr>
          <a:xfrm>
            <a:off x="815975" y="3665854"/>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2"/>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Agents, to ask for their own tokens. The console, to enrol agents with the operator key.</a:t>
            </a:r>
            <a:endParaRPr lang="en-US" sz="1200" dirty="0"/>
          </a:p>
        </p:txBody>
      </p:sp>
      <p:sp>
        <p:nvSpPr>
          <p:cNvPr id="13" name="Shape 11"/>
          <p:cNvSpPr/>
          <p:nvPr/>
        </p:nvSpPr>
        <p:spPr>
          <a:xfrm>
            <a:off x="6175375" y="3665854"/>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2"/>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 new tokens. Tokens already issued work until they expire, within 15 minutes.</a:t>
            </a:r>
            <a:endParaRPr lang="en-US" sz="1200" dirty="0"/>
          </a:p>
        </p:txBody>
      </p:sp>
      <p:sp>
        <p:nvSpPr>
          <p:cNvPr id="16" name="Text 14"/>
          <p:cNvSpPr/>
          <p:nvPr/>
        </p:nvSpPr>
        <p:spPr>
          <a:xfrm>
            <a:off x="812800" y="5400039"/>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which tools a role may hold tokens for comes from the registry, so an error there is an error here.</a:t>
            </a:r>
            <a:endParaRPr lang="en-US" sz="1200" dirty="0"/>
          </a:p>
        </p:txBody>
      </p:sp>
      <p:sp>
        <p:nvSpPr>
          <p:cNvPr id="17" name="Text 15"/>
          <p:cNvSpPr/>
          <p:nvPr/>
        </p:nvSpPr>
        <p:spPr>
          <a:xfrm>
            <a:off x="812800" y="6238239"/>
            <a:ext cx="39546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Agents and control networks.</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Vestigia</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audit ledger: a tamper-evident record of every decision.</a:t>
            </a:r>
            <a:endParaRPr lang="en-US" sz="1600" dirty="0"/>
          </a:p>
        </p:txBody>
      </p:sp>
      <p:sp>
        <p:nvSpPr>
          <p:cNvPr id="4" name="Shape 2"/>
          <p:cNvSpPr/>
          <p:nvPr/>
        </p:nvSpPr>
        <p:spPr>
          <a:xfrm>
            <a:off x="815975" y="2231389"/>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687638"/>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Appends each event to a file in which every entry carries a keyed hash of its own contents and of the entry before it. Changing, removing or inserting an entry breaks the chain.</a:t>
            </a:r>
            <a:endParaRPr lang="en-US" sz="1200" dirty="0"/>
          </a:p>
        </p:txBody>
      </p:sp>
      <p:sp>
        <p:nvSpPr>
          <p:cNvPr id="7" name="Shape 5"/>
          <p:cNvSpPr/>
          <p:nvPr/>
        </p:nvSpPr>
        <p:spPr>
          <a:xfrm>
            <a:off x="6175375" y="2231389"/>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41077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687638"/>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ledger file, the hashing secret and its own access key. Each entry names the agent, the person, the purpose, the decision and its reasons.</a:t>
            </a:r>
            <a:endParaRPr lang="en-US" sz="1200" dirty="0"/>
          </a:p>
        </p:txBody>
      </p:sp>
      <p:sp>
        <p:nvSpPr>
          <p:cNvPr id="10" name="Shape 8"/>
          <p:cNvSpPr/>
          <p:nvPr/>
        </p:nvSpPr>
        <p:spPr>
          <a:xfrm>
            <a:off x="815975" y="3665854"/>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2"/>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and the provisioner, to write.</a:t>
            </a:r>
            <a:endParaRPr lang="en-US" sz="1200" dirty="0"/>
          </a:p>
        </p:txBody>
      </p:sp>
      <p:sp>
        <p:nvSpPr>
          <p:cNvPr id="13" name="Shape 11"/>
          <p:cNvSpPr/>
          <p:nvPr/>
        </p:nvSpPr>
        <p:spPr>
          <a:xfrm>
            <a:off x="6175375" y="3665854"/>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1C1C"/>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2"/>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Every call is denied. Audit fails closed: no record, no call.</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57 to 180 ms per write as the ledger grew from 600 to 4,500 entries: 95 per cent or more of a request's time.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each write rewrites the whole file. Its own integrity check twice called a sound chain invalid.</a:t>
            </a:r>
            <a:endParaRPr lang="en-US" sz="1200" dirty="0"/>
          </a:p>
        </p:txBody>
      </p:sp>
      <p:sp>
        <p:nvSpPr>
          <p:cNvPr id="17" name="Text 15"/>
          <p:cNvSpPr/>
          <p:nvPr/>
        </p:nvSpPr>
        <p:spPr>
          <a:xfrm>
            <a:off x="812800" y="6238239"/>
            <a:ext cx="66014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ARTO suite, commit b57be5e, Apache 2.0, one build-time patch. Control network.</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Valkey</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gateway's working memory: fast storage for state that must outlive one request.</a:t>
            </a:r>
            <a:endParaRPr lang="en-US" sz="1600" dirty="0"/>
          </a:p>
        </p:txBody>
      </p:sp>
      <p:sp>
        <p:nvSpPr>
          <p:cNvPr id="4" name="Shape 2"/>
          <p:cNvSpPr/>
          <p:nvPr/>
        </p:nvSpPr>
        <p:spPr>
          <a:xfrm>
            <a:off x="815975" y="2338071"/>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517459"/>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794316"/>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Remembers held calls and makes sure an approval is used exactly once. Keeps the review queue and the latest 1,000 flags for the console. Counts calls per minute and tokens per day for the limits.</a:t>
            </a:r>
            <a:endParaRPr lang="en-US" sz="1200" dirty="0"/>
          </a:p>
        </p:txBody>
      </p:sp>
      <p:sp>
        <p:nvSpPr>
          <p:cNvPr id="7" name="Shape 5"/>
          <p:cNvSpPr/>
          <p:nvPr/>
        </p:nvSpPr>
        <p:spPr>
          <a:xfrm>
            <a:off x="6175375" y="2338071"/>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517459"/>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794316"/>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Short-lived state only. Nothing in it is evidence: every decision, hold and flag is also written to the ledger.</a:t>
            </a:r>
            <a:endParaRPr lang="en-US" sz="1200" dirty="0"/>
          </a:p>
        </p:txBody>
      </p:sp>
      <p:sp>
        <p:nvSpPr>
          <p:cNvPr id="10" name="Shape 8"/>
          <p:cNvSpPr/>
          <p:nvPr/>
        </p:nvSpPr>
        <p:spPr>
          <a:xfrm>
            <a:off x="815975" y="3772536"/>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3951923"/>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 with a password.</a:t>
            </a:r>
            <a:endParaRPr lang="en-US" sz="1200" dirty="0"/>
          </a:p>
        </p:txBody>
      </p:sp>
      <p:sp>
        <p:nvSpPr>
          <p:cNvPr id="13" name="Shape 11"/>
          <p:cNvSpPr/>
          <p:nvPr/>
        </p:nvSpPr>
        <p:spPr>
          <a:xfrm>
            <a:off x="6175375" y="3772536"/>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3951923"/>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1C1C"/>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Every call is denied, because limits and holds cannot be checked.</a:t>
            </a:r>
            <a:endParaRPr lang="en-US" sz="1200" dirty="0"/>
          </a:p>
        </p:txBody>
      </p:sp>
      <p:sp>
        <p:nvSpPr>
          <p:cNvPr id="16" name="Text 14"/>
          <p:cNvSpPr/>
          <p:nvPr/>
        </p:nvSpPr>
        <p:spPr>
          <a:xfrm>
            <a:off x="812800" y="5400042"/>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under 1 ms per request.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not hash-chained, and old flags drop off the end of the list.</a:t>
            </a:r>
            <a:endParaRPr lang="en-US" sz="1200" dirty="0"/>
          </a:p>
        </p:txBody>
      </p:sp>
      <p:sp>
        <p:nvSpPr>
          <p:cNvPr id="17" name="Text 15"/>
          <p:cNvSpPr/>
          <p:nvPr/>
        </p:nvSpPr>
        <p:spPr>
          <a:xfrm>
            <a:off x="812800" y="6238242"/>
            <a:ext cx="35239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Valkey 9.0.6, BSD licence. Control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OpenTelemetry Collector</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observability plane's collection point for traces and metrics.</a:t>
            </a:r>
            <a:endParaRPr lang="en-US" sz="1600" dirty="0"/>
          </a:p>
        </p:txBody>
      </p:sp>
      <p:sp>
        <p:nvSpPr>
          <p:cNvPr id="4" name="Shape 2"/>
          <p:cNvSpPr/>
          <p:nvPr/>
        </p:nvSpPr>
        <p:spPr>
          <a:xfrm>
            <a:off x="815975" y="2231392"/>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41078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687638"/>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Receives one trace per request from the gateway, with a span for each stage, plus a decision counter and a duration histogram. Keeps every denial, referral and failure, and one in ten allowed calls.</a:t>
            </a:r>
            <a:endParaRPr lang="en-US" sz="1200" dirty="0"/>
          </a:p>
        </p:txBody>
      </p:sp>
      <p:sp>
        <p:nvSpPr>
          <p:cNvPr id="7" name="Shape 5"/>
          <p:cNvSpPr/>
          <p:nvPr/>
        </p:nvSpPr>
        <p:spPr>
          <a:xfrm>
            <a:off x="6175375" y="2231392"/>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41078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687638"/>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Timing and outcome data, written to files. No tool parameters and no prompt content are sent to it.</a:t>
            </a:r>
            <a:endParaRPr lang="en-US" sz="1200" dirty="0"/>
          </a:p>
        </p:txBody>
      </p:sp>
      <p:sp>
        <p:nvSpPr>
          <p:cNvPr id="10" name="Shape 8"/>
          <p:cNvSpPr/>
          <p:nvPr/>
        </p:nvSpPr>
        <p:spPr>
          <a:xfrm>
            <a:off x="815975" y="3665854"/>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5"/>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a:t>
            </a:r>
            <a:endParaRPr lang="en-US" sz="1200" dirty="0"/>
          </a:p>
        </p:txBody>
      </p:sp>
      <p:sp>
        <p:nvSpPr>
          <p:cNvPr id="13" name="Shape 11"/>
          <p:cNvSpPr/>
          <p:nvPr/>
        </p:nvSpPr>
        <p:spPr>
          <a:xfrm>
            <a:off x="6175375" y="3665854"/>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5"/>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Nothing changes for callers. Telemetry fails open, unlike audit.</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Link to the ledger:</a:t>
            </a:r>
            <a:r>
              <a:rPr lang="en-US" sz="1200" dirty="0">
                <a:solidFill>
                  <a:srgbClr val="14213D"/>
                </a:solidFill>
                <a:latin typeface="Arial" pitchFamily="34" charset="0"/>
                <a:ea typeface="Arial" pitchFamily="34" charset="-122"/>
                <a:cs typeface="Arial" pitchFamily="34" charset="-120"/>
              </a:rPr>
              <a:t> the trace identifier is the same in both, and is shown on each step in the console.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only the gateway is instrumented, and no dashboard is attached.</a:t>
            </a:r>
            <a:endParaRPr lang="en-US" sz="1200" dirty="0"/>
          </a:p>
        </p:txBody>
      </p:sp>
      <p:sp>
        <p:nvSpPr>
          <p:cNvPr id="17" name="Text 15"/>
          <p:cNvSpPr/>
          <p:nvPr/>
        </p:nvSpPr>
        <p:spPr>
          <a:xfrm>
            <a:off x="812800" y="6238242"/>
            <a:ext cx="57339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OpenTelemetry Collector contrib 0.162.0, Apache 2.0. Control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Checking model</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control plane's own model, for one job: does this request fit its declared purpose?</a:t>
            </a:r>
            <a:endParaRPr lang="en-US" sz="1600" dirty="0"/>
          </a:p>
        </p:txBody>
      </p:sp>
      <p:sp>
        <p:nvSpPr>
          <p:cNvPr id="4" name="Shape 2"/>
          <p:cNvSpPr/>
          <p:nvPr/>
        </p:nvSpPr>
        <p:spPr>
          <a:xfrm>
            <a:off x="815975" y="2124708"/>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580959"/>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Given a purpose's description and the newest request, answers "fits" or "mismatch" with a short reason. The gateway asks after allowing a model call, once per distinct request, including each reply. A mismatch is flagged for review.</a:t>
            </a:r>
            <a:endParaRPr lang="en-US" sz="1200" dirty="0"/>
          </a:p>
        </p:txBody>
      </p:sp>
      <p:sp>
        <p:nvSpPr>
          <p:cNvPr id="7" name="Shape 5"/>
          <p:cNvSpPr/>
          <p:nvPr/>
        </p:nvSpPr>
        <p:spPr>
          <a:xfrm>
            <a:off x="6175375" y="2124708"/>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580959"/>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model's files and nothing else. It is not in the model registry, so no agent can ask for it.</a:t>
            </a:r>
            <a:endParaRPr lang="en-US" sz="1200" dirty="0"/>
          </a:p>
        </p:txBody>
      </p:sp>
      <p:sp>
        <p:nvSpPr>
          <p:cNvPr id="10" name="Shape 8"/>
          <p:cNvSpPr/>
          <p:nvPr/>
        </p:nvSpPr>
        <p:spPr>
          <a:xfrm>
            <a:off x="815975" y="3772533"/>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4"/>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 directly. It is a separate server from the model agents use.</a:t>
            </a:r>
            <a:endParaRPr lang="en-US" sz="1200" dirty="0"/>
          </a:p>
        </p:txBody>
      </p:sp>
      <p:sp>
        <p:nvSpPr>
          <p:cNvPr id="13" name="Shape 11"/>
          <p:cNvSpPr/>
          <p:nvPr/>
        </p:nvSpPr>
        <p:spPr>
          <a:xfrm>
            <a:off x="6175375" y="3772533"/>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4"/>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Requests are recorded as "not checked". Calls are unaffected: the check never blocks.</a:t>
            </a:r>
            <a:endParaRPr lang="en-US" sz="1200" dirty="0"/>
          </a:p>
        </p:txBody>
      </p:sp>
      <p:sp>
        <p:nvSpPr>
          <p:cNvPr id="16" name="Text 14"/>
          <p:cNvSpPr/>
          <p:nvPr/>
        </p:nvSpPr>
        <p:spPr>
          <a:xfrm>
            <a:off x="812800" y="5400042"/>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Observed:</a:t>
            </a:r>
            <a:r>
              <a:rPr lang="en-US" sz="1200" dirty="0">
                <a:solidFill>
                  <a:srgbClr val="14213D"/>
                </a:solidFill>
                <a:latin typeface="Arial" pitchFamily="34" charset="0"/>
                <a:ea typeface="Arial" pitchFamily="34" charset="-122"/>
                <a:cs typeface="Arial" pitchFamily="34" charset="-120"/>
              </a:rPr>
              <a:t> six of six off-purpose requests flagged.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a small model that can be wrong both ways. Its false alarm rate is not measured.</a:t>
            </a:r>
            <a:endParaRPr lang="en-US" sz="1200" dirty="0"/>
          </a:p>
        </p:txBody>
      </p:sp>
      <p:sp>
        <p:nvSpPr>
          <p:cNvPr id="17" name="Text 15"/>
          <p:cNvSpPr/>
          <p:nvPr/>
        </p:nvSpPr>
        <p:spPr>
          <a:xfrm>
            <a:off x="812800" y="6238242"/>
            <a:ext cx="44321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Ollama 0.35.1 (MIT) with llama3.2:3b. Control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Model adapter</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one component that talks to model providers, and the only one with a route out.</a:t>
            </a:r>
            <a:endParaRPr lang="en-US" sz="1600" dirty="0"/>
          </a:p>
        </p:txBody>
      </p:sp>
      <p:sp>
        <p:nvSpPr>
          <p:cNvPr id="4" name="Shape 2"/>
          <p:cNvSpPr/>
          <p:nvPr/>
        </p:nvSpPr>
        <p:spPr>
          <a:xfrm>
            <a:off x="815975" y="2338071"/>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517459"/>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794316"/>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Takes a model call the gateway has already allowed and translates it for its destination: the external provider, the agents' local model, or a stand-in for tests. It makes no decisions of its own.</a:t>
            </a:r>
            <a:endParaRPr lang="en-US" sz="1200" dirty="0"/>
          </a:p>
        </p:txBody>
      </p:sp>
      <p:sp>
        <p:nvSpPr>
          <p:cNvPr id="7" name="Shape 5"/>
          <p:cNvSpPr/>
          <p:nvPr/>
        </p:nvSpPr>
        <p:spPr>
          <a:xfrm>
            <a:off x="6175375" y="2338071"/>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517459"/>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794316"/>
            <a:ext cx="499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provider's key. No agent, and not even the gateway, ever sees it.</a:t>
            </a:r>
            <a:endParaRPr lang="en-US" sz="1200" dirty="0"/>
          </a:p>
        </p:txBody>
      </p:sp>
      <p:sp>
        <p:nvSpPr>
          <p:cNvPr id="10" name="Shape 8"/>
          <p:cNvSpPr/>
          <p:nvPr/>
        </p:nvSpPr>
        <p:spPr>
          <a:xfrm>
            <a:off x="815975" y="3772533"/>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 with a key that only the gateway holds.</a:t>
            </a:r>
            <a:endParaRPr lang="en-US" sz="1200" dirty="0"/>
          </a:p>
        </p:txBody>
      </p:sp>
      <p:sp>
        <p:nvSpPr>
          <p:cNvPr id="13" name="Shape 11"/>
          <p:cNvSpPr/>
          <p:nvPr/>
        </p:nvSpPr>
        <p:spPr>
          <a:xfrm>
            <a:off x="6175375" y="3772533"/>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Model calls are denied. Tool calls are unaffected.</a:t>
            </a:r>
            <a:endParaRPr lang="en-US" sz="1200" dirty="0"/>
          </a:p>
        </p:txBody>
      </p:sp>
      <p:sp>
        <p:nvSpPr>
          <p:cNvPr id="16" name="Text 14"/>
          <p:cNvSpPr/>
          <p:nvPr/>
        </p:nvSpPr>
        <p:spPr>
          <a:xfrm>
            <a:off x="812800" y="5400042"/>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Measured:</a:t>
            </a:r>
            <a:r>
              <a:rPr lang="en-US" sz="1200" dirty="0">
                <a:solidFill>
                  <a:srgbClr val="14213D"/>
                </a:solidFill>
                <a:latin typeface="Arial" pitchFamily="34" charset="0"/>
                <a:ea typeface="Arial" pitchFamily="34" charset="-122"/>
                <a:cs typeface="Arial" pitchFamily="34" charset="-120"/>
              </a:rPr>
              <a:t> 4.2 ms with the stand-in model.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its route out is not yet restricted to the provider's addresses.</a:t>
            </a:r>
            <a:endParaRPr lang="en-US" sz="1200" dirty="0"/>
          </a:p>
        </p:txBody>
      </p:sp>
      <p:sp>
        <p:nvSpPr>
          <p:cNvPr id="17" name="Text 15"/>
          <p:cNvSpPr/>
          <p:nvPr/>
        </p:nvSpPr>
        <p:spPr>
          <a:xfrm>
            <a:off x="812800" y="6238242"/>
            <a:ext cx="67302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on the LiteLLM library 1.104.0 (MIT). Models network, plus the route out.</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Agents' local model</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A model inside the organisation that agents may be allowed to use.</a:t>
            </a:r>
            <a:endParaRPr lang="en-US" sz="1600" dirty="0"/>
          </a:p>
        </p:txBody>
      </p:sp>
      <p:sp>
        <p:nvSpPr>
          <p:cNvPr id="4" name="Shape 2"/>
          <p:cNvSpPr/>
          <p:nvPr/>
        </p:nvSpPr>
        <p:spPr>
          <a:xfrm>
            <a:off x="815975" y="2124708"/>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580959"/>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Answers model calls that policy has routed to the model named local-model. Nothing in such a call leaves the organisation. Policy decides by role which agents may use it and which may use the external provider.</a:t>
            </a:r>
            <a:endParaRPr lang="en-US" sz="1200" dirty="0"/>
          </a:p>
        </p:txBody>
      </p:sp>
      <p:sp>
        <p:nvSpPr>
          <p:cNvPr id="7" name="Shape 5"/>
          <p:cNvSpPr/>
          <p:nvPr/>
        </p:nvSpPr>
        <p:spPr>
          <a:xfrm>
            <a:off x="6175375" y="2124708"/>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580959"/>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model's files. Ollama has no access control of its own, which is why it sits behind the adapter.</a:t>
            </a:r>
            <a:endParaRPr lang="en-US" sz="1200" dirty="0"/>
          </a:p>
        </p:txBody>
      </p:sp>
      <p:sp>
        <p:nvSpPr>
          <p:cNvPr id="10" name="Shape 8"/>
          <p:cNvSpPr/>
          <p:nvPr/>
        </p:nvSpPr>
        <p:spPr>
          <a:xfrm>
            <a:off x="815975" y="3772533"/>
            <a:ext cx="5200650" cy="848995"/>
          </a:xfrm>
          <a:prstGeom prst="roundRect">
            <a:avLst>
              <a:gd name="adj" fmla="val 8601"/>
            </a:avLst>
          </a:prstGeom>
          <a:solidFill>
            <a:srgbClr val="FFFFFF"/>
          </a:solidFill>
          <a:ln w="6350">
            <a:solidFill>
              <a:srgbClr val="D5DBE5"/>
            </a:solidFill>
            <a:prstDash val="solid"/>
          </a:ln>
        </p:spPr>
      </p:sp>
      <p:sp>
        <p:nvSpPr>
          <p:cNvPr id="11" name="Text 9"/>
          <p:cNvSpPr/>
          <p:nvPr/>
        </p:nvSpPr>
        <p:spPr>
          <a:xfrm>
            <a:off x="10207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model adapter only. It has no route out.</a:t>
            </a:r>
            <a:endParaRPr lang="en-US" sz="1200" dirty="0"/>
          </a:p>
        </p:txBody>
      </p:sp>
      <p:sp>
        <p:nvSpPr>
          <p:cNvPr id="13" name="Shape 11"/>
          <p:cNvSpPr/>
          <p:nvPr/>
        </p:nvSpPr>
        <p:spPr>
          <a:xfrm>
            <a:off x="6175375" y="3772533"/>
            <a:ext cx="5200650" cy="848995"/>
          </a:xfrm>
          <a:prstGeom prst="roundRect">
            <a:avLst>
              <a:gd name="adj" fmla="val 8601"/>
            </a:avLst>
          </a:prstGeom>
          <a:solidFill>
            <a:srgbClr val="FFFFFF"/>
          </a:solidFill>
          <a:ln w="6350">
            <a:solidFill>
              <a:srgbClr val="D5DBE5"/>
            </a:solidFill>
            <a:prstDash val="solid"/>
          </a:ln>
        </p:spPr>
      </p:sp>
      <p:sp>
        <p:nvSpPr>
          <p:cNvPr id="14" name="Text 12"/>
          <p:cNvSpPr/>
          <p:nvPr/>
        </p:nvSpPr>
        <p:spPr>
          <a:xfrm>
            <a:off x="63801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Calls to the local model fail. Other models are unaffected.</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Observed:</a:t>
            </a:r>
            <a:r>
              <a:rPr lang="en-US" sz="1200" dirty="0">
                <a:solidFill>
                  <a:srgbClr val="14213D"/>
                </a:solidFill>
                <a:latin typeface="Arial" pitchFamily="34" charset="0"/>
                <a:ea typeface="Arial" pitchFamily="34" charset="-122"/>
                <a:cs typeface="Arial" pitchFamily="34" charset="-120"/>
              </a:rPr>
              <a:t> in its first real run it skipped the database and invented sales figures, with every call permitted.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a 3 GB model keeps data inside but is weaker at using tools.</a:t>
            </a:r>
            <a:endParaRPr lang="en-US" sz="1200" dirty="0"/>
          </a:p>
        </p:txBody>
      </p:sp>
      <p:sp>
        <p:nvSpPr>
          <p:cNvPr id="17" name="Text 15"/>
          <p:cNvSpPr/>
          <p:nvPr/>
        </p:nvSpPr>
        <p:spPr>
          <a:xfrm>
            <a:off x="812800" y="6238242"/>
            <a:ext cx="44321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Ollama 0.35.1 (MIT) with llama3.2:3b. Models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Agent runtime and bridge</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Where the agents live, and the door through which workflow applications drive them.</a:t>
            </a:r>
            <a:endParaRPr lang="en-US" sz="1600" dirty="0"/>
          </a:p>
        </p:txBody>
      </p:sp>
      <p:sp>
        <p:nvSpPr>
          <p:cNvPr id="4" name="Shape 2"/>
          <p:cNvSpPr/>
          <p:nvPr/>
        </p:nvSpPr>
        <p:spPr>
          <a:xfrm>
            <a:off x="815975" y="2018029"/>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474280"/>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Runs each agent's loop: ask the model, carry out the tool calls it proposes, wait when one is held, carry on when a person replies. As a bridge it also accepts the OpenAI chat format and the Model Context Protocol, with one API key per agent.</a:t>
            </a:r>
            <a:endParaRPr lang="en-US" sz="1200" dirty="0"/>
          </a:p>
        </p:txBody>
      </p:sp>
      <p:sp>
        <p:nvSpPr>
          <p:cNvPr id="7" name="Shape 5"/>
          <p:cNvSpPr/>
          <p:nvPr/>
        </p:nvSpPr>
        <p:spPr>
          <a:xfrm>
            <a:off x="6175375" y="2018029"/>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474280"/>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Each agent's private key, on its own storage. No operator or reviewer credential.</a:t>
            </a:r>
            <a:endParaRPr lang="en-US" sz="1200" dirty="0"/>
          </a:p>
        </p:txBody>
      </p:sp>
      <p:sp>
        <p:nvSpPr>
          <p:cNvPr id="10" name="Shape 8"/>
          <p:cNvSpPr/>
          <p:nvPr/>
        </p:nvSpPr>
        <p:spPr>
          <a:xfrm>
            <a:off x="815975" y="3665854"/>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5"/>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console and workflow applications, on the agents network.</a:t>
            </a:r>
            <a:endParaRPr lang="en-US" sz="1200" dirty="0"/>
          </a:p>
        </p:txBody>
      </p:sp>
      <p:sp>
        <p:nvSpPr>
          <p:cNvPr id="13" name="Shape 11"/>
          <p:cNvSpPr/>
          <p:nvPr/>
        </p:nvSpPr>
        <p:spPr>
          <a:xfrm>
            <a:off x="6175375" y="3665854"/>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 agent can act. Tasks in progress are lost, since they are held in memory.</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Two agents:</a:t>
            </a:r>
            <a:r>
              <a:rPr lang="en-US" sz="1200" dirty="0">
                <a:solidFill>
                  <a:srgbClr val="14213D"/>
                </a:solidFill>
                <a:latin typeface="Arial" pitchFamily="34" charset="0"/>
                <a:ea typeface="Arial" pitchFamily="34" charset="-122"/>
                <a:cs typeface="Arial" pitchFamily="34" charset="-120"/>
              </a:rPr>
              <a:t> a data analyst and a report writer, each told about one tool its role does not include, to show the gateway enforcing the role.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it states the person's name to the gateway, which takes it on trust.</a:t>
            </a:r>
            <a:endParaRPr lang="en-US" sz="1200" dirty="0"/>
          </a:p>
        </p:txBody>
      </p:sp>
      <p:sp>
        <p:nvSpPr>
          <p:cNvPr id="17" name="Text 15"/>
          <p:cNvSpPr/>
          <p:nvPr/>
        </p:nvSpPr>
        <p:spPr>
          <a:xfrm>
            <a:off x="812800" y="6238242"/>
            <a:ext cx="29074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Agents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LangGraph workflow</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Agents orchestrated in code: the analyst hands its findings to the writer.</a:t>
            </a:r>
            <a:endParaRPr lang="en-US" sz="1600" dirty="0"/>
          </a:p>
        </p:txBody>
      </p:sp>
      <p:sp>
        <p:nvSpPr>
          <p:cNvPr id="4" name="Shape 2"/>
          <p:cNvSpPr/>
          <p:nvPr/>
        </p:nvSpPr>
        <p:spPr>
          <a:xfrm>
            <a:off x="815975" y="2124708"/>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580959"/>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Runs the data analyst, then passes its findings to the report writer. Each acts under its own identity, on a model chosen per agent. Both share one task identifier, so the ledger shows the hand-over as one task.</a:t>
            </a:r>
            <a:endParaRPr lang="en-US" sz="1200" dirty="0"/>
          </a:p>
        </p:txBody>
      </p:sp>
      <p:sp>
        <p:nvSpPr>
          <p:cNvPr id="7" name="Shape 5"/>
          <p:cNvSpPr/>
          <p:nvPr/>
        </p:nvSpPr>
        <p:spPr>
          <a:xfrm>
            <a:off x="6175375" y="2124708"/>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304095"/>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580959"/>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agents' API keys for the bridge. Never their private keys.</a:t>
            </a:r>
            <a:endParaRPr lang="en-US" sz="1200" dirty="0"/>
          </a:p>
        </p:txBody>
      </p:sp>
      <p:sp>
        <p:nvSpPr>
          <p:cNvPr id="10" name="Shape 8"/>
          <p:cNvSpPr/>
          <p:nvPr/>
        </p:nvSpPr>
        <p:spPr>
          <a:xfrm>
            <a:off x="815975" y="3772533"/>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228784"/>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Nobody: it is run on demand from the command line, and it reaches only the bridge.</a:t>
            </a:r>
            <a:endParaRPr lang="en-US" sz="1200" dirty="0"/>
          </a:p>
        </p:txBody>
      </p:sp>
      <p:sp>
        <p:nvSpPr>
          <p:cNvPr id="13" name="Shape 11"/>
          <p:cNvSpPr/>
          <p:nvPr/>
        </p:nvSpPr>
        <p:spPr>
          <a:xfrm>
            <a:off x="6175375" y="3772533"/>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95192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228784"/>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Nothing else is affected. The console can still give agents tasks.</a:t>
            </a:r>
            <a:endParaRPr lang="en-US" sz="1200" dirty="0"/>
          </a:p>
        </p:txBody>
      </p:sp>
      <p:sp>
        <p:nvSpPr>
          <p:cNvPr id="16" name="Text 14"/>
          <p:cNvSpPr/>
          <p:nvPr/>
        </p:nvSpPr>
        <p:spPr>
          <a:xfrm>
            <a:off x="812800" y="5400042"/>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no person is recorded for its tasks. The hand-over is inside the workflow: there is no delegated credential between agents.</a:t>
            </a:r>
            <a:endParaRPr lang="en-US" sz="1200" dirty="0"/>
          </a:p>
        </p:txBody>
      </p:sp>
      <p:sp>
        <p:nvSpPr>
          <p:cNvPr id="17" name="Text 15"/>
          <p:cNvSpPr/>
          <p:nvPr/>
        </p:nvSpPr>
        <p:spPr>
          <a:xfrm>
            <a:off x="812800" y="6238242"/>
            <a:ext cx="33752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LangGraph 1.2.12 (MIT). Agents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Console</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The human side: one web page where people give tasks, reply and review.</a:t>
            </a:r>
            <a:endParaRPr lang="en-US" sz="1600" dirty="0"/>
          </a:p>
        </p:txBody>
      </p:sp>
      <p:sp>
        <p:nvSpPr>
          <p:cNvPr id="4" name="Shape 2"/>
          <p:cNvSpPr/>
          <p:nvPr/>
        </p:nvSpPr>
        <p:spPr>
          <a:xfrm>
            <a:off x="815975" y="2018029"/>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474280"/>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 requester gives an agent a task and replies to it. A reviewer approves or rejects held calls and sees flags. An operator enrols agents. Each step is shown with the gateway's decision and its trace identifier.</a:t>
            </a:r>
            <a:endParaRPr lang="en-US" sz="1200" dirty="0"/>
          </a:p>
        </p:txBody>
      </p:sp>
      <p:sp>
        <p:nvSpPr>
          <p:cNvPr id="7" name="Shape 5"/>
          <p:cNvSpPr/>
          <p:nvPr/>
        </p:nvSpPr>
        <p:spPr>
          <a:xfrm>
            <a:off x="6175375" y="2018029"/>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197416"/>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474280"/>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Personal accounts with hashed passwords and roles. The operator, reviewer and runtime keys. No agent key.</a:t>
            </a:r>
            <a:endParaRPr lang="en-US" sz="1200" dirty="0"/>
          </a:p>
        </p:txBody>
      </p:sp>
      <p:sp>
        <p:nvSpPr>
          <p:cNvPr id="10" name="Shape 8"/>
          <p:cNvSpPr/>
          <p:nvPr/>
        </p:nvSpPr>
        <p:spPr>
          <a:xfrm>
            <a:off x="815975" y="3665854"/>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 browser on the same machine. It is the only published port in the build.</a:t>
            </a:r>
            <a:endParaRPr lang="en-US" sz="1200" dirty="0"/>
          </a:p>
        </p:txBody>
      </p:sp>
      <p:sp>
        <p:nvSpPr>
          <p:cNvPr id="13" name="Shape 11"/>
          <p:cNvSpPr/>
          <p:nvPr/>
        </p:nvSpPr>
        <p:spPr>
          <a:xfrm>
            <a:off x="6175375" y="3665854"/>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1"/>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Nobody can review, so held calls expire and are denied. Workflows still run.</a:t>
            </a:r>
            <a:endParaRPr lang="en-US" sz="1200" dirty="0"/>
          </a:p>
        </p:txBody>
      </p:sp>
      <p:sp>
        <p:nvSpPr>
          <p:cNvPr id="16" name="Text 14"/>
          <p:cNvSpPr/>
          <p:nvPr/>
        </p:nvSpPr>
        <p:spPr>
          <a:xfrm>
            <a:off x="812800" y="5186679"/>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Why accounts matter:</a:t>
            </a:r>
            <a:r>
              <a:rPr lang="en-US" sz="1200" dirty="0">
                <a:solidFill>
                  <a:srgbClr val="14213D"/>
                </a:solidFill>
                <a:latin typeface="Arial" pitchFamily="34" charset="0"/>
                <a:ea typeface="Arial" pitchFamily="34" charset="-122"/>
                <a:cs typeface="Arial" pitchFamily="34" charset="-120"/>
              </a:rPr>
              <a:t> the signed-in name travels with every call, so the ledger shows who asked.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the person is verified here, not at the gateway. Sign-in is basic.</a:t>
            </a:r>
            <a:endParaRPr lang="en-US" sz="1200" dirty="0"/>
          </a:p>
        </p:txBody>
      </p:sp>
      <p:sp>
        <p:nvSpPr>
          <p:cNvPr id="17" name="Text 15"/>
          <p:cNvSpPr/>
          <p:nvPr/>
        </p:nvSpPr>
        <p:spPr>
          <a:xfrm>
            <a:off x="812800" y="6238242"/>
            <a:ext cx="75608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and one HTML page. Agents network, published to the local machine only.</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Mock tools</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Stand-ins for the organisation's real tools, internal or external.</a:t>
            </a:r>
            <a:endParaRPr lang="en-US" sz="1600" dirty="0"/>
          </a:p>
        </p:txBody>
      </p:sp>
      <p:sp>
        <p:nvSpPr>
          <p:cNvPr id="4" name="Shape 2"/>
          <p:cNvSpPr/>
          <p:nvPr/>
        </p:nvSpPr>
        <p:spPr>
          <a:xfrm>
            <a:off x="815975" y="2231392"/>
            <a:ext cx="5200650" cy="1275715"/>
          </a:xfrm>
          <a:prstGeom prst="roundRect">
            <a:avLst>
              <a:gd name="adj" fmla="val 5724"/>
            </a:avLst>
          </a:prstGeom>
          <a:solidFill>
            <a:srgbClr val="FFFFFF"/>
          </a:solidFill>
          <a:ln w="6350">
            <a:solidFill>
              <a:srgbClr val="D5DBE5"/>
            </a:solidFill>
            <a:prstDash val="solid"/>
          </a:ln>
        </p:spPr>
      </p:sp>
      <p:sp>
        <p:nvSpPr>
          <p:cNvPr id="5" name="Text 3"/>
          <p:cNvSpPr/>
          <p:nvPr/>
        </p:nvSpPr>
        <p:spPr>
          <a:xfrm>
            <a:off x="1020763" y="241078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does</a:t>
            </a:r>
            <a:endParaRPr lang="en-US" sz="1400" dirty="0"/>
          </a:p>
        </p:txBody>
      </p:sp>
      <p:sp>
        <p:nvSpPr>
          <p:cNvPr id="6" name="Text 4"/>
          <p:cNvSpPr/>
          <p:nvPr/>
        </p:nvSpPr>
        <p:spPr>
          <a:xfrm>
            <a:off x="1020763" y="2687638"/>
            <a:ext cx="4934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Answers as a database read, a file read, a report generator, an export and a delete would. Counts the calls it receives, so a test can prove that a refused call never arrived.</a:t>
            </a:r>
            <a:endParaRPr lang="en-US" sz="1200" dirty="0"/>
          </a:p>
        </p:txBody>
      </p:sp>
      <p:sp>
        <p:nvSpPr>
          <p:cNvPr id="7" name="Shape 5"/>
          <p:cNvSpPr/>
          <p:nvPr/>
        </p:nvSpPr>
        <p:spPr>
          <a:xfrm>
            <a:off x="6175375" y="2231392"/>
            <a:ext cx="5200650" cy="1275715"/>
          </a:xfrm>
          <a:prstGeom prst="roundRect">
            <a:avLst>
              <a:gd name="adj" fmla="val 5724"/>
            </a:avLst>
          </a:prstGeom>
          <a:solidFill>
            <a:srgbClr val="FFFFFF"/>
          </a:solidFill>
          <a:ln w="6350">
            <a:solidFill>
              <a:srgbClr val="D5DBE5"/>
            </a:solidFill>
            <a:prstDash val="solid"/>
          </a:ln>
        </p:spPr>
      </p:sp>
      <p:sp>
        <p:nvSpPr>
          <p:cNvPr id="8" name="Text 6"/>
          <p:cNvSpPr/>
          <p:nvPr/>
        </p:nvSpPr>
        <p:spPr>
          <a:xfrm>
            <a:off x="6380163" y="2410780"/>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it holds</a:t>
            </a:r>
            <a:endParaRPr lang="en-US" sz="1400" dirty="0"/>
          </a:p>
        </p:txBody>
      </p:sp>
      <p:sp>
        <p:nvSpPr>
          <p:cNvPr id="9" name="Text 7"/>
          <p:cNvSpPr/>
          <p:nvPr/>
        </p:nvSpPr>
        <p:spPr>
          <a:xfrm>
            <a:off x="6380163" y="2687638"/>
            <a:ext cx="499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 small fixed set of sales figures and one set of notes. No credentials.</a:t>
            </a:r>
            <a:endParaRPr lang="en-US" sz="1200" dirty="0"/>
          </a:p>
        </p:txBody>
      </p:sp>
      <p:sp>
        <p:nvSpPr>
          <p:cNvPr id="10" name="Shape 8"/>
          <p:cNvSpPr/>
          <p:nvPr/>
        </p:nvSpPr>
        <p:spPr>
          <a:xfrm>
            <a:off x="815975" y="3665860"/>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it</a:t>
            </a:r>
            <a:endParaRPr lang="en-US" sz="1400" dirty="0"/>
          </a:p>
        </p:txBody>
      </p:sp>
      <p:sp>
        <p:nvSpPr>
          <p:cNvPr id="12" name="Text 10"/>
          <p:cNvSpPr/>
          <p:nvPr/>
        </p:nvSpPr>
        <p:spPr>
          <a:xfrm>
            <a:off x="10207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gateway only. Agents hold no credential for any tool and have no route to one.</a:t>
            </a:r>
            <a:endParaRPr lang="en-US" sz="1200" dirty="0"/>
          </a:p>
        </p:txBody>
      </p:sp>
      <p:sp>
        <p:nvSpPr>
          <p:cNvPr id="13" name="Shape 11"/>
          <p:cNvSpPr/>
          <p:nvPr/>
        </p:nvSpPr>
        <p:spPr>
          <a:xfrm>
            <a:off x="6175375" y="3665860"/>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5200"/>
                </a:solidFill>
                <a:latin typeface="Arial" pitchFamily="34" charset="0"/>
                <a:ea typeface="Arial" pitchFamily="34" charset="-122"/>
                <a:cs typeface="Arial" pitchFamily="34" charset="-120"/>
              </a:rPr>
              <a:t>If it is unavailable</a:t>
            </a:r>
            <a:endParaRPr lang="en-US" sz="1400" dirty="0"/>
          </a:p>
        </p:txBody>
      </p:sp>
      <p:sp>
        <p:nvSpPr>
          <p:cNvPr id="15" name="Text 13"/>
          <p:cNvSpPr/>
          <p:nvPr/>
        </p:nvSpPr>
        <p:spPr>
          <a:xfrm>
            <a:off x="6380163" y="4122105"/>
            <a:ext cx="4934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Tool calls fail. The decision and its record are still made.</a:t>
            </a:r>
            <a:endParaRPr lang="en-US" sz="1200" dirty="0"/>
          </a:p>
        </p:txBody>
      </p:sp>
      <p:sp>
        <p:nvSpPr>
          <p:cNvPr id="16" name="Text 14"/>
          <p:cNvSpPr/>
          <p:nvPr/>
        </p:nvSpPr>
        <p:spPr>
          <a:xfrm>
            <a:off x="812800" y="5400042"/>
            <a:ext cx="10566400" cy="441960"/>
          </a:xfrm>
          <a:prstGeom prst="roundRect">
            <a:avLst>
              <a:gd name="adj" fmla="val 14368"/>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these are not real tools. The file read returns the same notes for any path, which hid a model's made-up file name.</a:t>
            </a:r>
            <a:endParaRPr lang="en-US" sz="1200" dirty="0"/>
          </a:p>
        </p:txBody>
      </p:sp>
      <p:sp>
        <p:nvSpPr>
          <p:cNvPr id="17" name="Text 15"/>
          <p:cNvSpPr/>
          <p:nvPr/>
        </p:nvSpPr>
        <p:spPr>
          <a:xfrm>
            <a:off x="812800" y="6238242"/>
            <a:ext cx="27650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Tools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Verifier and audit trail tools</a:t>
            </a:r>
            <a:endParaRPr lang="en-US" sz="3000" dirty="0"/>
          </a:p>
        </p:txBody>
      </p:sp>
      <p:sp>
        <p:nvSpPr>
          <p:cNvPr id="3" name="Text 1"/>
          <p:cNvSpPr/>
          <p:nvPr/>
        </p:nvSpPr>
        <p:spPr>
          <a:xfrm>
            <a:off x="812800" y="1295400"/>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D4A61"/>
                </a:solidFill>
                <a:latin typeface="Arial" pitchFamily="34" charset="0"/>
                <a:ea typeface="Arial" pitchFamily="34" charset="-122"/>
                <a:cs typeface="Arial" pitchFamily="34" charset="-120"/>
              </a:rPr>
              <a:t>Two command-line tools that check and read the ledger, and owe nothing to the system they check.</a:t>
            </a:r>
            <a:endParaRPr lang="en-US" sz="1600" dirty="0"/>
          </a:p>
        </p:txBody>
      </p:sp>
      <p:sp>
        <p:nvSpPr>
          <p:cNvPr id="4" name="Shape 2"/>
          <p:cNvSpPr/>
          <p:nvPr/>
        </p:nvSpPr>
        <p:spPr>
          <a:xfrm>
            <a:off x="815975" y="2018035"/>
            <a:ext cx="5200650" cy="1489075"/>
          </a:xfrm>
          <a:prstGeom prst="roundRect">
            <a:avLst>
              <a:gd name="adj" fmla="val 4904"/>
            </a:avLst>
          </a:prstGeom>
          <a:solidFill>
            <a:srgbClr val="FFFFFF"/>
          </a:solidFill>
          <a:ln w="6350">
            <a:solidFill>
              <a:srgbClr val="D5DBE5"/>
            </a:solidFill>
            <a:prstDash val="solid"/>
          </a:ln>
        </p:spPr>
      </p:sp>
      <p:sp>
        <p:nvSpPr>
          <p:cNvPr id="5" name="Text 3"/>
          <p:cNvSpPr/>
          <p:nvPr/>
        </p:nvSpPr>
        <p:spPr>
          <a:xfrm>
            <a:off x="1020763" y="2197422"/>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they do</a:t>
            </a:r>
            <a:endParaRPr lang="en-US" sz="1400" dirty="0"/>
          </a:p>
        </p:txBody>
      </p:sp>
      <p:sp>
        <p:nvSpPr>
          <p:cNvPr id="6" name="Text 4"/>
          <p:cNvSpPr/>
          <p:nvPr/>
        </p:nvSpPr>
        <p:spPr>
          <a:xfrm>
            <a:off x="1020763" y="2474280"/>
            <a:ext cx="4934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verifier recomputes every hash from the ledger files and reports a backward timestamp separately, as a clock warning. The audit trail tool prints one task's entries in plain words, with who asked, and can alter a copy to show tampering being caught.</a:t>
            </a:r>
            <a:endParaRPr lang="en-US" sz="1200" dirty="0"/>
          </a:p>
        </p:txBody>
      </p:sp>
      <p:sp>
        <p:nvSpPr>
          <p:cNvPr id="7" name="Shape 5"/>
          <p:cNvSpPr/>
          <p:nvPr/>
        </p:nvSpPr>
        <p:spPr>
          <a:xfrm>
            <a:off x="6175375" y="2018035"/>
            <a:ext cx="5200650" cy="1489075"/>
          </a:xfrm>
          <a:prstGeom prst="roundRect">
            <a:avLst>
              <a:gd name="adj" fmla="val 4904"/>
            </a:avLst>
          </a:prstGeom>
          <a:solidFill>
            <a:srgbClr val="FFFFFF"/>
          </a:solidFill>
          <a:ln w="6350">
            <a:solidFill>
              <a:srgbClr val="D5DBE5"/>
            </a:solidFill>
            <a:prstDash val="solid"/>
          </a:ln>
        </p:spPr>
      </p:sp>
      <p:sp>
        <p:nvSpPr>
          <p:cNvPr id="8" name="Text 6"/>
          <p:cNvSpPr/>
          <p:nvPr/>
        </p:nvSpPr>
        <p:spPr>
          <a:xfrm>
            <a:off x="6380163" y="2197422"/>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What they hold</a:t>
            </a:r>
            <a:endParaRPr lang="en-US" sz="1400" dirty="0"/>
          </a:p>
        </p:txBody>
      </p:sp>
      <p:sp>
        <p:nvSpPr>
          <p:cNvPr id="9" name="Text 7"/>
          <p:cNvSpPr/>
          <p:nvPr/>
        </p:nvSpPr>
        <p:spPr>
          <a:xfrm>
            <a:off x="6380163" y="2474280"/>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Nothing. They need the ledger's hashing secret to recompute the hashes, and share no code with the ledger.</a:t>
            </a:r>
            <a:endParaRPr lang="en-US" sz="1200" dirty="0"/>
          </a:p>
        </p:txBody>
      </p:sp>
      <p:sp>
        <p:nvSpPr>
          <p:cNvPr id="10" name="Shape 8"/>
          <p:cNvSpPr/>
          <p:nvPr/>
        </p:nvSpPr>
        <p:spPr>
          <a:xfrm>
            <a:off x="815975" y="3665860"/>
            <a:ext cx="5200650" cy="1062355"/>
          </a:xfrm>
          <a:prstGeom prst="roundRect">
            <a:avLst>
              <a:gd name="adj" fmla="val 6874"/>
            </a:avLst>
          </a:prstGeom>
          <a:solidFill>
            <a:srgbClr val="FFFFFF"/>
          </a:solidFill>
          <a:ln w="6350">
            <a:solidFill>
              <a:srgbClr val="D5DBE5"/>
            </a:solidFill>
            <a:prstDash val="solid"/>
          </a:ln>
        </p:spPr>
      </p:sp>
      <p:sp>
        <p:nvSpPr>
          <p:cNvPr id="11" name="Text 9"/>
          <p:cNvSpPr/>
          <p:nvPr/>
        </p:nvSpPr>
        <p:spPr>
          <a:xfrm>
            <a:off x="1020763" y="384524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Who can reach them</a:t>
            </a:r>
            <a:endParaRPr lang="en-US" sz="1400" dirty="0"/>
          </a:p>
        </p:txBody>
      </p:sp>
      <p:sp>
        <p:nvSpPr>
          <p:cNvPr id="12" name="Text 10"/>
          <p:cNvSpPr/>
          <p:nvPr/>
        </p:nvSpPr>
        <p:spPr>
          <a:xfrm>
            <a:off x="10207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They are not a service. They run with no network at all, on a read-only view of the ledger.</a:t>
            </a:r>
            <a:endParaRPr lang="en-US" sz="1200" dirty="0"/>
          </a:p>
        </p:txBody>
      </p:sp>
      <p:sp>
        <p:nvSpPr>
          <p:cNvPr id="13" name="Shape 11"/>
          <p:cNvSpPr/>
          <p:nvPr/>
        </p:nvSpPr>
        <p:spPr>
          <a:xfrm>
            <a:off x="6175375" y="3665860"/>
            <a:ext cx="5200650" cy="1062355"/>
          </a:xfrm>
          <a:prstGeom prst="roundRect">
            <a:avLst>
              <a:gd name="adj" fmla="val 6874"/>
            </a:avLst>
          </a:prstGeom>
          <a:solidFill>
            <a:srgbClr val="FFFFFF"/>
          </a:solidFill>
          <a:ln w="6350">
            <a:solidFill>
              <a:srgbClr val="D5DBE5"/>
            </a:solidFill>
            <a:prstDash val="solid"/>
          </a:ln>
        </p:spPr>
      </p:sp>
      <p:sp>
        <p:nvSpPr>
          <p:cNvPr id="14" name="Text 12"/>
          <p:cNvSpPr/>
          <p:nvPr/>
        </p:nvSpPr>
        <p:spPr>
          <a:xfrm>
            <a:off x="6380163" y="3845247"/>
            <a:ext cx="49348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5FBF"/>
                </a:solidFill>
                <a:latin typeface="Arial" pitchFamily="34" charset="0"/>
                <a:ea typeface="Arial" pitchFamily="34" charset="-122"/>
                <a:cs typeface="Arial" pitchFamily="34" charset="-120"/>
              </a:rPr>
              <a:t>Why they exist</a:t>
            </a:r>
            <a:endParaRPr lang="en-US" sz="1400" dirty="0"/>
          </a:p>
        </p:txBody>
      </p:sp>
      <p:sp>
        <p:nvSpPr>
          <p:cNvPr id="15" name="Text 13"/>
          <p:cNvSpPr/>
          <p:nvPr/>
        </p:nvSpPr>
        <p:spPr>
          <a:xfrm>
            <a:off x="6380163" y="4122105"/>
            <a:ext cx="49348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ledger's own check twice called a sound chain invalid: after rotation, and after a clock step.</a:t>
            </a:r>
            <a:endParaRPr lang="en-US" sz="1200" dirty="0"/>
          </a:p>
        </p:txBody>
      </p:sp>
      <p:sp>
        <p:nvSpPr>
          <p:cNvPr id="16" name="Text 14"/>
          <p:cNvSpPr/>
          <p:nvPr/>
        </p:nvSpPr>
        <p:spPr>
          <a:xfrm>
            <a:off x="812800" y="5186685"/>
            <a:ext cx="10566400" cy="655320"/>
          </a:xfrm>
          <a:prstGeom prst="roundRect">
            <a:avLst>
              <a:gd name="adj" fmla="val 9690"/>
            </a:avLst>
          </a:prstGeom>
          <a:solidFill>
            <a:srgbClr val="EEF1F6"/>
          </a:solidFill>
          <a:ln/>
        </p:spPr>
        <p:txBody>
          <a:bodyPr wrap="square" lIns="133801" tIns="95701" rIns="0" bIns="70301"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Observed:</a:t>
            </a:r>
            <a:r>
              <a:rPr lang="en-US" sz="1200" dirty="0">
                <a:solidFill>
                  <a:srgbClr val="14213D"/>
                </a:solidFill>
                <a:latin typeface="Arial" pitchFamily="34" charset="0"/>
                <a:ea typeface="Arial" pitchFamily="34" charset="-122"/>
                <a:cs typeface="Arial" pitchFamily="34" charset="-120"/>
              </a:rPr>
              <a:t> three of three alterations of a ledger copy detected. </a:t>
            </a:r>
            <a:r>
              <a:rPr lang="en-US" sz="1200" b="1" dirty="0">
                <a:solidFill>
                  <a:srgbClr val="14213D"/>
                </a:solidFill>
                <a:latin typeface="Arial" pitchFamily="34" charset="0"/>
                <a:ea typeface="Arial" pitchFamily="34" charset="-122"/>
                <a:cs typeface="Arial" pitchFamily="34" charset="-120"/>
              </a:rPr>
              <a:t>Limits:</a:t>
            </a:r>
            <a:r>
              <a:rPr lang="en-US" sz="1200" dirty="0">
                <a:solidFill>
                  <a:srgbClr val="14213D"/>
                </a:solidFill>
                <a:latin typeface="Arial" pitchFamily="34" charset="0"/>
                <a:ea typeface="Arial" pitchFamily="34" charset="-122"/>
                <a:cs typeface="Arial" pitchFamily="34" charset="-120"/>
              </a:rPr>
              <a:t> they cannot tell that the end of the ledger was cut off unless the last hash was noted elsewhere.</a:t>
            </a:r>
            <a:endParaRPr lang="en-US" sz="1200" dirty="0"/>
          </a:p>
        </p:txBody>
      </p:sp>
      <p:sp>
        <p:nvSpPr>
          <p:cNvPr id="17" name="Text 15"/>
          <p:cNvSpPr/>
          <p:nvPr/>
        </p:nvSpPr>
        <p:spPr>
          <a:xfrm>
            <a:off x="812800" y="6238242"/>
            <a:ext cx="42561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Own code, Python standard library only. No network.</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theme/theme1.xml><?xml version="1.0" encoding="utf-8"?>
<a:theme xmlns:a="http://schemas.openxmlformats.org/drawingml/2006/main" name="Policy gateway: the components">
  <a:themeElements>
    <a:clrScheme name="Policy gateway: the components">
      <a:dk1>
        <a:srgbClr val="14213D"/>
      </a:dk1>
      <a:lt1>
        <a:srgbClr val="F7F8FA"/>
      </a:lt1>
      <a:dk2>
        <a:srgbClr val="4D576C"/>
      </a:dk2>
      <a:lt2>
        <a:srgbClr val="E0E3E7"/>
      </a:lt2>
      <a:accent1>
        <a:srgbClr val="1F5FBF"/>
      </a:accent1>
      <a:accent2>
        <a:srgbClr val="8A5200"/>
      </a:accent2>
      <a:accent3>
        <a:srgbClr val="8A1C1C"/>
      </a:accent3>
      <a:accent4>
        <a:srgbClr val="F2B84B"/>
      </a:accent4>
      <a:accent5>
        <a:srgbClr val="3D4A61"/>
      </a:accent5>
      <a:accent6>
        <a:srgbClr val="5B6880"/>
      </a:accent6>
      <a:hlink>
        <a:srgbClr val="0563C1"/>
      </a:hlink>
      <a:folHlink>
        <a:srgbClr val="954F72"/>
      </a:folHlink>
    </a:clrScheme>
    <a:fontScheme name="Policy gateway: the componen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gateway: the components</dc:title>
  <dc:subject/>
  <dc:creator/>
  <cp:lastModifiedBy/>
  <cp:revision>1</cp:revision>
  <dcterms:created xsi:type="dcterms:W3CDTF">2026-10-05T05:00:36Z</dcterms:created>
  <dcterms:modified xsi:type="dcterms:W3CDTF">2026-10-05T05:00:36Z</dcterms:modified>
</cp:coreProperties>
</file>