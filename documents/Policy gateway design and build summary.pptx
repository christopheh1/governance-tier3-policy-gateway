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summary of the design and the working build as it stands on 5 October 2026: the decision at the gateway, the architecture, the six stages, how a call is traced to a person, the evidence, and what the build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interception point was the first design question. The answer: tool calls and model calls pass through a gateway the organisation controls. Deny, allow, or conditional allow with referral to a person all happen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is the enforcement point and the policy engine is the decision point. There are two paths: tool calls and model calls. An approval is tied to a fingerprint of the exact request, so it cannot be reused for a different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models run inside, on purpose on different networks. Agents use one through the model adapter. The control plane has its own for judging requests, which agents cannot reach or load. A separate provisioner holds the identity service's admin key, so neither the gateway nor any agent does. A visual workflow builder, Flowise, was tried and removed: the console already covers giving tasks and replying.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ARTO is pinned at commit b57be5e, Apache 2.0, with one build-time patch to make the ledger's rate limit configurable. The bridge in stage 6 lets any application that speaks the OpenAI chat format and the Model Context Protocol use the gateway: the LangGraph workflow uses it. Flowise was added in stage 6 and then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came from testing, not from the original design. A pizza recipe asked under the purpose "Deliver a report" was allowed, because policy checks the purpose code and cannot read the request. That led to the purpose-fit check, then to moving its model onto the control network, then to personal accounts so a flag names a person. An optional rule stops anyone approving a call made on their own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51 and 27 are the latest runs seen on the Kali box. The agents suite has 29 checks in the current revision: 18 were seen passing there at stage 5, and the newer checks have passed in development but their Kali output has not been seen. The six off-purpose requests were four about pizza, one about a holiday in Greece, and one for sales figures under the market research purpose. Six cases are an illustration, not a measurement. The audit write is 95 per cent or more of the end-to-end time, and more workers make it worse because writes are serialised.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findings support the paper's position that enforcement belongs outside the model, and add two things Chapter 6 does not have: a component that assesses intent, and the person behind the agent carried on every call. Vestigia's own integrity check twice reported a sound chain as invalid, after rotation and after the clock step, so the independent verifier is the one to rely on. About 140 corrections to the paper are listed by section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B84B"/>
                </a:solidFill>
                <a:latin typeface="Arial" pitchFamily="34" charset="0"/>
                <a:ea typeface="Arial" pitchFamily="34" charset="-122"/>
                <a:cs typeface="Arial" pitchFamily="34" charset="-120"/>
              </a:rPr>
              <a:t>Runtime cybersecurity governance for AI</a:t>
            </a:r>
            <a:endParaRPr lang="en-US" sz="1400" dirty="0"/>
          </a:p>
        </p:txBody>
      </p:sp>
      <p:sp>
        <p:nvSpPr>
          <p:cNvPr id="3" name="Text 1"/>
          <p:cNvSpPr/>
          <p:nvPr>
            <p:ph type="title"/>
          </p:nvPr>
        </p:nvSpPr>
        <p:spPr>
          <a:xfrm>
            <a:off x="812800" y="2622550"/>
            <a:ext cx="9810750" cy="77216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4F6FA"/>
                </a:solidFill>
                <a:latin typeface="Arial" pitchFamily="34" charset="0"/>
                <a:ea typeface="Arial" pitchFamily="34" charset="-122"/>
                <a:cs typeface="Arial" pitchFamily="34" charset="-120"/>
              </a:rPr>
              <a:t>The policy gateway</a:t>
            </a:r>
            <a:endParaRPr lang="en-US" sz="5600" dirty="0"/>
          </a:p>
        </p:txBody>
      </p:sp>
      <p:sp>
        <p:nvSpPr>
          <p:cNvPr id="4" name="Text 2"/>
          <p:cNvSpPr/>
          <p:nvPr/>
        </p:nvSpPr>
        <p:spPr>
          <a:xfrm>
            <a:off x="812800" y="3623310"/>
            <a:ext cx="9156700"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6"/>
                </a:solidFill>
                <a:latin typeface="Arial" pitchFamily="34" charset="0"/>
                <a:ea typeface="Arial" pitchFamily="34" charset="-122"/>
                <a:cs typeface="Arial" pitchFamily="34" charset="-120"/>
              </a:rPr>
              <a:t>What we designed and built around it, in six stages</a:t>
            </a:r>
            <a:endParaRPr lang="en-US" sz="2200" dirty="0"/>
          </a:p>
        </p:txBody>
      </p:sp>
      <p:sp>
        <p:nvSpPr>
          <p:cNvPr id="5" name="Text 3"/>
          <p:cNvSpPr/>
          <p:nvPr/>
        </p:nvSpPr>
        <p:spPr>
          <a:xfrm>
            <a:off x="812800" y="5547360"/>
            <a:ext cx="254458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Arial" pitchFamily="34" charset="0"/>
                <a:ea typeface="Arial" pitchFamily="34" charset="-122"/>
                <a:cs typeface="Arial" pitchFamily="34" charset="-120"/>
              </a:rPr>
              <a:t>Christophe Hamchin</a:t>
            </a:r>
            <a:endParaRPr lang="en-US" sz="1400" dirty="0"/>
          </a:p>
          <a:p>
            <a:pPr algn="l" indent="0" marL="0">
              <a:lnSpc>
                <a:spcPts val="1960"/>
              </a:lnSpc>
              <a:buNone/>
            </a:pPr>
            <a:r>
              <a:rPr lang="en-US" sz="1400" dirty="0">
                <a:solidFill>
                  <a:srgbClr val="C9D3E6"/>
                </a:solidFill>
                <a:latin typeface="Arial" pitchFamily="34" charset="0"/>
                <a:ea typeface="Arial" pitchFamily="34" charset="-122"/>
                <a:cs typeface="Arial" pitchFamily="34" charset="-120"/>
              </a:rPr>
              <a:t>NUS capstone, 5 October 2026</a:t>
            </a:r>
            <a:endParaRPr lang="en-US" sz="1400" dirty="0"/>
          </a:p>
        </p:txBody>
      </p:sp>
      <p:sp>
        <p:nvSpPr>
          <p:cNvPr id="6" name="Text 4"/>
          <p:cNvSpPr/>
          <p:nvPr/>
        </p:nvSpPr>
        <p:spPr>
          <a:xfrm>
            <a:off x="8676884" y="5547360"/>
            <a:ext cx="2702317" cy="52324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3E6"/>
                </a:solidFill>
                <a:latin typeface="Arial" pitchFamily="34" charset="0"/>
                <a:ea typeface="Arial" pitchFamily="34" charset="-122"/>
                <a:cs typeface="Arial" pitchFamily="34" charset="-120"/>
              </a:rPr>
              <a:t>Profile 3 of the [1+3] architecture:</a:t>
            </a:r>
            <a:endParaRPr lang="en-US" sz="1400" dirty="0"/>
          </a:p>
          <a:p>
            <a:pPr algn="r" indent="0" marL="0">
              <a:lnSpc>
                <a:spcPts val="1960"/>
              </a:lnSpc>
              <a:buNone/>
            </a:pPr>
            <a:r>
              <a:rPr lang="en-US" sz="1400" dirty="0">
                <a:solidFill>
                  <a:srgbClr val="C9D3E6"/>
                </a:solidFill>
                <a:latin typeface="Arial" pitchFamily="34" charset="0"/>
                <a:ea typeface="Arial" pitchFamily="34" charset="-122"/>
                <a:cs typeface="Arial" pitchFamily="34" charset="-120"/>
              </a:rPr>
              <a:t>observability plane plus Tier 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The need: agents that act for the organisation</a:t>
            </a:r>
            <a:endParaRPr lang="en-US" sz="3000" dirty="0"/>
          </a:p>
        </p:txBody>
      </p:sp>
      <p:sp>
        <p:nvSpPr>
          <p:cNvPr id="3" name="Shape 1"/>
          <p:cNvSpPr/>
          <p:nvPr/>
        </p:nvSpPr>
        <p:spPr>
          <a:xfrm>
            <a:off x="815975" y="1905953"/>
            <a:ext cx="3380317" cy="1882775"/>
          </a:xfrm>
          <a:prstGeom prst="roundRect">
            <a:avLst>
              <a:gd name="adj" fmla="val 3879"/>
            </a:avLst>
          </a:prstGeom>
          <a:solidFill>
            <a:srgbClr val="FFFFFF"/>
          </a:solidFill>
          <a:ln w="6350">
            <a:solidFill>
              <a:srgbClr val="D5DBE5"/>
            </a:solidFill>
            <a:prstDash val="solid"/>
          </a:ln>
        </p:spPr>
      </p:sp>
      <p:sp>
        <p:nvSpPr>
          <p:cNvPr id="4" name="Text 2"/>
          <p:cNvSpPr/>
          <p:nvPr/>
        </p:nvSpPr>
        <p:spPr>
          <a:xfrm>
            <a:off x="1071563" y="2161540"/>
            <a:ext cx="295521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The setting</a:t>
            </a:r>
            <a:endParaRPr lang="en-US" sz="1800" dirty="0"/>
          </a:p>
        </p:txBody>
      </p:sp>
      <p:sp>
        <p:nvSpPr>
          <p:cNvPr id="5" name="Text 3"/>
          <p:cNvSpPr/>
          <p:nvPr/>
        </p:nvSpPr>
        <p:spPr>
          <a:xfrm>
            <a:off x="1071563" y="2537460"/>
            <a:ext cx="295521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61"/>
                </a:solidFill>
                <a:latin typeface="Arial" pitchFamily="34" charset="0"/>
                <a:ea typeface="Arial" pitchFamily="34" charset="-122"/>
                <a:cs typeface="Arial" pitchFamily="34" charset="-120"/>
              </a:rPr>
              <a:t>An organisation with a limited budget uses an external AI provider, and may also run a small model of its own.</a:t>
            </a:r>
            <a:endParaRPr lang="en-US" sz="1400" dirty="0"/>
          </a:p>
        </p:txBody>
      </p:sp>
      <p:sp>
        <p:nvSpPr>
          <p:cNvPr id="6" name="Shape 4"/>
          <p:cNvSpPr/>
          <p:nvPr/>
        </p:nvSpPr>
        <p:spPr>
          <a:xfrm>
            <a:off x="4405842" y="1905953"/>
            <a:ext cx="3380317" cy="1882775"/>
          </a:xfrm>
          <a:prstGeom prst="roundRect">
            <a:avLst>
              <a:gd name="adj" fmla="val 3879"/>
            </a:avLst>
          </a:prstGeom>
          <a:solidFill>
            <a:srgbClr val="FFFFFF"/>
          </a:solidFill>
          <a:ln w="6350">
            <a:solidFill>
              <a:srgbClr val="D5DBE5"/>
            </a:solidFill>
            <a:prstDash val="solid"/>
          </a:ln>
        </p:spPr>
      </p:sp>
      <p:sp>
        <p:nvSpPr>
          <p:cNvPr id="7" name="Text 5"/>
          <p:cNvSpPr/>
          <p:nvPr/>
        </p:nvSpPr>
        <p:spPr>
          <a:xfrm>
            <a:off x="4661429" y="2161540"/>
            <a:ext cx="295521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The agents</a:t>
            </a:r>
            <a:endParaRPr lang="en-US" sz="1800" dirty="0"/>
          </a:p>
        </p:txBody>
      </p:sp>
      <p:sp>
        <p:nvSpPr>
          <p:cNvPr id="8" name="Text 6"/>
          <p:cNvSpPr/>
          <p:nvPr/>
        </p:nvSpPr>
        <p:spPr>
          <a:xfrm>
            <a:off x="4661429" y="2537460"/>
            <a:ext cx="295521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61"/>
                </a:solidFill>
                <a:latin typeface="Arial" pitchFamily="34" charset="0"/>
                <a:ea typeface="Arial" pitchFamily="34" charset="-122"/>
                <a:cs typeface="Arial" pitchFamily="34" charset="-120"/>
              </a:rPr>
              <a:t>A data analyst reads sales data. A report writer produces reports and sends them out. Tools may be internal or external.</a:t>
            </a:r>
            <a:endParaRPr lang="en-US" sz="1400" dirty="0"/>
          </a:p>
        </p:txBody>
      </p:sp>
      <p:sp>
        <p:nvSpPr>
          <p:cNvPr id="9" name="Shape 7"/>
          <p:cNvSpPr/>
          <p:nvPr/>
        </p:nvSpPr>
        <p:spPr>
          <a:xfrm>
            <a:off x="7995708" y="1905953"/>
            <a:ext cx="3380317" cy="1882775"/>
          </a:xfrm>
          <a:prstGeom prst="roundRect">
            <a:avLst>
              <a:gd name="adj" fmla="val 3879"/>
            </a:avLst>
          </a:prstGeom>
          <a:solidFill>
            <a:srgbClr val="FFFFFF"/>
          </a:solidFill>
          <a:ln w="6350">
            <a:solidFill>
              <a:srgbClr val="D5DBE5"/>
            </a:solidFill>
            <a:prstDash val="solid"/>
          </a:ln>
        </p:spPr>
      </p:sp>
      <p:sp>
        <p:nvSpPr>
          <p:cNvPr id="10" name="Text 8"/>
          <p:cNvSpPr/>
          <p:nvPr/>
        </p:nvSpPr>
        <p:spPr>
          <a:xfrm>
            <a:off x="8251296" y="2161540"/>
            <a:ext cx="295521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The risk</a:t>
            </a:r>
            <a:endParaRPr lang="en-US" sz="1800" dirty="0"/>
          </a:p>
        </p:txBody>
      </p:sp>
      <p:sp>
        <p:nvSpPr>
          <p:cNvPr id="11" name="Text 9"/>
          <p:cNvSpPr/>
          <p:nvPr/>
        </p:nvSpPr>
        <p:spPr>
          <a:xfrm>
            <a:off x="8251296" y="2537460"/>
            <a:ext cx="295521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61"/>
                </a:solidFill>
                <a:latin typeface="Arial" pitchFamily="34" charset="0"/>
                <a:ea typeface="Arial" pitchFamily="34" charset="-122"/>
                <a:cs typeface="Arial" pitchFamily="34" charset="-120"/>
              </a:rPr>
              <a:t>An agent that can call any tool can read, export or delete outside its task, and nobody can show afterwards who asked for what.</a:t>
            </a:r>
            <a:endParaRPr lang="en-US" sz="1400" dirty="0"/>
          </a:p>
        </p:txBody>
      </p:sp>
      <p:sp>
        <p:nvSpPr>
          <p:cNvPr id="12" name="Shape 10"/>
          <p:cNvSpPr/>
          <p:nvPr/>
        </p:nvSpPr>
        <p:spPr>
          <a:xfrm>
            <a:off x="812800" y="4462780"/>
            <a:ext cx="10566400" cy="1379220"/>
          </a:xfrm>
          <a:prstGeom prst="roundRect">
            <a:avLst>
              <a:gd name="adj" fmla="val 5525"/>
            </a:avLst>
          </a:prstGeom>
          <a:solidFill>
            <a:srgbClr val="14213D"/>
          </a:solidFill>
          <a:ln/>
        </p:spPr>
      </p:sp>
      <p:sp>
        <p:nvSpPr>
          <p:cNvPr id="13" name="Text 11"/>
          <p:cNvSpPr/>
          <p:nvPr/>
        </p:nvSpPr>
        <p:spPr>
          <a:xfrm>
            <a:off x="1117600" y="4716780"/>
            <a:ext cx="10255504"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4F6FA"/>
                </a:solidFill>
                <a:latin typeface="Arial" pitchFamily="34" charset="0"/>
                <a:ea typeface="Arial" pitchFamily="34" charset="-122"/>
                <a:cs typeface="Arial" pitchFamily="34" charset="-120"/>
              </a:rPr>
              <a:t>The decision: no agent reaches a tool or a model directly.</a:t>
            </a:r>
            <a:endParaRPr lang="en-US" sz="1800" dirty="0"/>
          </a:p>
        </p:txBody>
      </p:sp>
      <p:sp>
        <p:nvSpPr>
          <p:cNvPr id="14" name="Text 12"/>
          <p:cNvSpPr/>
          <p:nvPr/>
        </p:nvSpPr>
        <p:spPr>
          <a:xfrm>
            <a:off x="1117600" y="5090160"/>
            <a:ext cx="1025550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Arial" pitchFamily="34" charset="0"/>
                <a:ea typeface="Arial" pitchFamily="34" charset="-122"/>
                <a:cs typeface="Arial" pitchFamily="34" charset="-120"/>
              </a:rPr>
              <a:t>Every call passes one gate that asks "who are you?" and "what is your intent?", then decides and records. We named it the policy gateway, since the tools behind it are not only on the internet.</a:t>
            </a:r>
            <a:endParaRPr lang="en-US" sz="1400" dirty="0"/>
          </a:p>
        </p:txBody>
      </p:sp>
      <p:sp>
        <p:nvSpPr>
          <p:cNvPr id="15" name="Text 13"/>
          <p:cNvSpPr/>
          <p:nvPr/>
        </p:nvSpPr>
        <p:spPr>
          <a:xfrm>
            <a:off x="812800" y="6238239"/>
            <a:ext cx="345655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Policy gateway: design and build summary</a:t>
            </a:r>
            <a:endParaRPr lang="en-US" sz="1200" dirty="0"/>
          </a:p>
        </p:txBody>
      </p:sp>
      <p:sp>
        <p:nvSpPr>
          <p:cNvPr id="16" name="Text 1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The design: how the gateway decides one call</a:t>
            </a:r>
            <a:endParaRPr lang="en-US" sz="3000" dirty="0"/>
          </a:p>
        </p:txBody>
      </p:sp>
      <p:sp>
        <p:nvSpPr>
          <p:cNvPr id="3" name="Shape 1"/>
          <p:cNvSpPr/>
          <p:nvPr/>
        </p:nvSpPr>
        <p:spPr>
          <a:xfrm>
            <a:off x="812800" y="1972627"/>
            <a:ext cx="2546350" cy="1615440"/>
          </a:xfrm>
          <a:prstGeom prst="roundRect">
            <a:avLst>
              <a:gd name="adj" fmla="val 4717"/>
            </a:avLst>
          </a:prstGeom>
          <a:solidFill>
            <a:srgbClr val="14213D"/>
          </a:solidFill>
          <a:ln/>
        </p:spPr>
      </p:sp>
      <p:sp>
        <p:nvSpPr>
          <p:cNvPr id="4" name="Text 2"/>
          <p:cNvSpPr/>
          <p:nvPr/>
        </p:nvSpPr>
        <p:spPr>
          <a:xfrm>
            <a:off x="1003300" y="2150427"/>
            <a:ext cx="223031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B84B"/>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1003300" y="2462848"/>
            <a:ext cx="223031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A"/>
                </a:solidFill>
                <a:latin typeface="Arial" pitchFamily="34" charset="0"/>
                <a:ea typeface="Arial" pitchFamily="34" charset="-122"/>
                <a:cs typeface="Arial" pitchFamily="34" charset="-120"/>
              </a:rPr>
              <a:t>Verify identity</a:t>
            </a:r>
            <a:endParaRPr lang="en-US" sz="1600" dirty="0"/>
          </a:p>
        </p:txBody>
      </p:sp>
      <p:sp>
        <p:nvSpPr>
          <p:cNvPr id="6" name="Text 4"/>
          <p:cNvSpPr/>
          <p:nvPr/>
        </p:nvSpPr>
        <p:spPr>
          <a:xfrm>
            <a:off x="1003300" y="2770188"/>
            <a:ext cx="223031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A short-lived token for one tool, plus proof that the agent holds its key</a:t>
            </a:r>
            <a:endParaRPr lang="en-US" sz="1200" dirty="0"/>
          </a:p>
        </p:txBody>
      </p:sp>
      <p:sp>
        <p:nvSpPr>
          <p:cNvPr id="7" name="Shape 5"/>
          <p:cNvSpPr/>
          <p:nvPr/>
        </p:nvSpPr>
        <p:spPr>
          <a:xfrm>
            <a:off x="3486150" y="1972627"/>
            <a:ext cx="2546350" cy="1615440"/>
          </a:xfrm>
          <a:prstGeom prst="roundRect">
            <a:avLst>
              <a:gd name="adj" fmla="val 4717"/>
            </a:avLst>
          </a:prstGeom>
          <a:solidFill>
            <a:srgbClr val="14213D"/>
          </a:solidFill>
          <a:ln/>
        </p:spPr>
      </p:sp>
      <p:sp>
        <p:nvSpPr>
          <p:cNvPr id="8" name="Text 6"/>
          <p:cNvSpPr/>
          <p:nvPr/>
        </p:nvSpPr>
        <p:spPr>
          <a:xfrm>
            <a:off x="3676650" y="2150427"/>
            <a:ext cx="223031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B84B"/>
                </a:solidFill>
                <a:latin typeface="Arial" pitchFamily="34" charset="0"/>
                <a:ea typeface="Arial" pitchFamily="34" charset="-122"/>
                <a:cs typeface="Arial" pitchFamily="34" charset="-120"/>
              </a:rPr>
              <a:t>2</a:t>
            </a:r>
            <a:endParaRPr lang="en-US" sz="1400" dirty="0"/>
          </a:p>
        </p:txBody>
      </p:sp>
      <p:sp>
        <p:nvSpPr>
          <p:cNvPr id="9" name="Text 7"/>
          <p:cNvSpPr/>
          <p:nvPr/>
        </p:nvSpPr>
        <p:spPr>
          <a:xfrm>
            <a:off x="3676650" y="2462848"/>
            <a:ext cx="223031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A"/>
                </a:solidFill>
                <a:latin typeface="Arial" pitchFamily="34" charset="0"/>
                <a:ea typeface="Arial" pitchFamily="34" charset="-122"/>
                <a:cs typeface="Arial" pitchFamily="34" charset="-120"/>
              </a:rPr>
              <a:t>Read the intent</a:t>
            </a:r>
            <a:endParaRPr lang="en-US" sz="1600" dirty="0"/>
          </a:p>
        </p:txBody>
      </p:sp>
      <p:sp>
        <p:nvSpPr>
          <p:cNvPr id="10" name="Text 8"/>
          <p:cNvSpPr/>
          <p:nvPr/>
        </p:nvSpPr>
        <p:spPr>
          <a:xfrm>
            <a:off x="3676650" y="2770188"/>
            <a:ext cx="223031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A purpose code, a task, and the person the agent is acting for</a:t>
            </a:r>
            <a:endParaRPr lang="en-US" sz="1200" dirty="0"/>
          </a:p>
        </p:txBody>
      </p:sp>
      <p:sp>
        <p:nvSpPr>
          <p:cNvPr id="11" name="Shape 9"/>
          <p:cNvSpPr/>
          <p:nvPr/>
        </p:nvSpPr>
        <p:spPr>
          <a:xfrm>
            <a:off x="6159500" y="1972627"/>
            <a:ext cx="2546350" cy="1615440"/>
          </a:xfrm>
          <a:prstGeom prst="roundRect">
            <a:avLst>
              <a:gd name="adj" fmla="val 4717"/>
            </a:avLst>
          </a:prstGeom>
          <a:solidFill>
            <a:srgbClr val="14213D"/>
          </a:solidFill>
          <a:ln/>
        </p:spPr>
      </p:sp>
      <p:sp>
        <p:nvSpPr>
          <p:cNvPr id="12" name="Text 10"/>
          <p:cNvSpPr/>
          <p:nvPr/>
        </p:nvSpPr>
        <p:spPr>
          <a:xfrm>
            <a:off x="6350000" y="2150427"/>
            <a:ext cx="223031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B84B"/>
                </a:solidFill>
                <a:latin typeface="Arial" pitchFamily="34" charset="0"/>
                <a:ea typeface="Arial" pitchFamily="34" charset="-122"/>
                <a:cs typeface="Arial" pitchFamily="34" charset="-120"/>
              </a:rPr>
              <a:t>3</a:t>
            </a:r>
            <a:endParaRPr lang="en-US" sz="1400" dirty="0"/>
          </a:p>
        </p:txBody>
      </p:sp>
      <p:sp>
        <p:nvSpPr>
          <p:cNvPr id="13" name="Text 11"/>
          <p:cNvSpPr/>
          <p:nvPr/>
        </p:nvSpPr>
        <p:spPr>
          <a:xfrm>
            <a:off x="6350000" y="2462848"/>
            <a:ext cx="223031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A"/>
                </a:solidFill>
                <a:latin typeface="Arial" pitchFamily="34" charset="0"/>
                <a:ea typeface="Arial" pitchFamily="34" charset="-122"/>
                <a:cs typeface="Arial" pitchFamily="34" charset="-120"/>
              </a:rPr>
              <a:t>Ask policy</a:t>
            </a:r>
            <a:endParaRPr lang="en-US" sz="1600" dirty="0"/>
          </a:p>
        </p:txBody>
      </p:sp>
      <p:sp>
        <p:nvSpPr>
          <p:cNvPr id="14" name="Text 12"/>
          <p:cNvSpPr/>
          <p:nvPr/>
        </p:nvSpPr>
        <p:spPr>
          <a:xfrm>
            <a:off x="6350000" y="2770188"/>
            <a:ext cx="223031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Role, purpose, tool, model and limits, checked by the policy engine</a:t>
            </a:r>
            <a:endParaRPr lang="en-US" sz="1200" dirty="0"/>
          </a:p>
        </p:txBody>
      </p:sp>
      <p:sp>
        <p:nvSpPr>
          <p:cNvPr id="15" name="Shape 13"/>
          <p:cNvSpPr/>
          <p:nvPr/>
        </p:nvSpPr>
        <p:spPr>
          <a:xfrm>
            <a:off x="8832850" y="1972627"/>
            <a:ext cx="2546350" cy="1615440"/>
          </a:xfrm>
          <a:prstGeom prst="roundRect">
            <a:avLst>
              <a:gd name="adj" fmla="val 4717"/>
            </a:avLst>
          </a:prstGeom>
          <a:solidFill>
            <a:srgbClr val="14213D"/>
          </a:solidFill>
          <a:ln/>
        </p:spPr>
      </p:sp>
      <p:sp>
        <p:nvSpPr>
          <p:cNvPr id="16" name="Text 14"/>
          <p:cNvSpPr/>
          <p:nvPr/>
        </p:nvSpPr>
        <p:spPr>
          <a:xfrm>
            <a:off x="9023350" y="2150427"/>
            <a:ext cx="223031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B84B"/>
                </a:solidFill>
                <a:latin typeface="Arial" pitchFamily="34" charset="0"/>
                <a:ea typeface="Arial" pitchFamily="34" charset="-122"/>
                <a:cs typeface="Arial" pitchFamily="34" charset="-120"/>
              </a:rPr>
              <a:t>4</a:t>
            </a:r>
            <a:endParaRPr lang="en-US" sz="1400" dirty="0"/>
          </a:p>
        </p:txBody>
      </p:sp>
      <p:sp>
        <p:nvSpPr>
          <p:cNvPr id="17" name="Text 15"/>
          <p:cNvSpPr/>
          <p:nvPr/>
        </p:nvSpPr>
        <p:spPr>
          <a:xfrm>
            <a:off x="9023350" y="2462848"/>
            <a:ext cx="223031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A"/>
                </a:solidFill>
                <a:latin typeface="Arial" pitchFamily="34" charset="0"/>
                <a:ea typeface="Arial" pitchFamily="34" charset="-122"/>
                <a:cs typeface="Arial" pitchFamily="34" charset="-120"/>
              </a:rPr>
              <a:t>Record it</a:t>
            </a:r>
            <a:endParaRPr lang="en-US" sz="1600" dirty="0"/>
          </a:p>
        </p:txBody>
      </p:sp>
      <p:sp>
        <p:nvSpPr>
          <p:cNvPr id="18" name="Text 16"/>
          <p:cNvSpPr/>
          <p:nvPr/>
        </p:nvSpPr>
        <p:spPr>
          <a:xfrm>
            <a:off x="9023350" y="2770188"/>
            <a:ext cx="223031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The decision goes to the ledger before the tool or model is called</a:t>
            </a:r>
            <a:endParaRPr lang="en-US" sz="1200" dirty="0"/>
          </a:p>
        </p:txBody>
      </p:sp>
      <p:sp>
        <p:nvSpPr>
          <p:cNvPr id="19" name="Shape 17"/>
          <p:cNvSpPr/>
          <p:nvPr/>
        </p:nvSpPr>
        <p:spPr>
          <a:xfrm>
            <a:off x="815975" y="4331970"/>
            <a:ext cx="3414183" cy="1506855"/>
          </a:xfrm>
          <a:prstGeom prst="roundRect">
            <a:avLst>
              <a:gd name="adj" fmla="val 4846"/>
            </a:avLst>
          </a:prstGeom>
          <a:solidFill>
            <a:srgbClr val="FFFFFF"/>
          </a:solidFill>
          <a:ln w="6350">
            <a:solidFill>
              <a:srgbClr val="D5DBE5"/>
            </a:solidFill>
            <a:prstDash val="solid"/>
          </a:ln>
        </p:spPr>
      </p:sp>
      <p:sp>
        <p:nvSpPr>
          <p:cNvPr id="20" name="Text 18"/>
          <p:cNvSpPr/>
          <p:nvPr/>
        </p:nvSpPr>
        <p:spPr>
          <a:xfrm>
            <a:off x="1020763" y="4511357"/>
            <a:ext cx="30947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A1C1C"/>
                </a:solidFill>
                <a:latin typeface="Arial" pitchFamily="34" charset="0"/>
                <a:ea typeface="Arial" pitchFamily="34" charset="-122"/>
                <a:cs typeface="Arial" pitchFamily="34" charset="-120"/>
              </a:rPr>
              <a:t>Deny</a:t>
            </a:r>
            <a:endParaRPr lang="en-US" sz="1600" dirty="0"/>
          </a:p>
        </p:txBody>
      </p:sp>
      <p:sp>
        <p:nvSpPr>
          <p:cNvPr id="21" name="Text 19"/>
          <p:cNvSpPr/>
          <p:nvPr/>
        </p:nvSpPr>
        <p:spPr>
          <a:xfrm>
            <a:off x="1020763" y="4805998"/>
            <a:ext cx="309474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The default. Also the answer whenever identity, policy, store or ledger cannot be reached.</a:t>
            </a:r>
            <a:endParaRPr lang="en-US" sz="1200" dirty="0"/>
          </a:p>
        </p:txBody>
      </p:sp>
      <p:sp>
        <p:nvSpPr>
          <p:cNvPr id="22" name="Shape 20"/>
          <p:cNvSpPr/>
          <p:nvPr/>
        </p:nvSpPr>
        <p:spPr>
          <a:xfrm>
            <a:off x="4388908" y="4331970"/>
            <a:ext cx="3414183" cy="1506855"/>
          </a:xfrm>
          <a:prstGeom prst="roundRect">
            <a:avLst>
              <a:gd name="adj" fmla="val 4846"/>
            </a:avLst>
          </a:prstGeom>
          <a:solidFill>
            <a:srgbClr val="FFFFFF"/>
          </a:solidFill>
          <a:ln w="6350">
            <a:solidFill>
              <a:srgbClr val="D5DBE5"/>
            </a:solidFill>
            <a:prstDash val="solid"/>
          </a:ln>
        </p:spPr>
      </p:sp>
      <p:sp>
        <p:nvSpPr>
          <p:cNvPr id="23" name="Text 21"/>
          <p:cNvSpPr/>
          <p:nvPr/>
        </p:nvSpPr>
        <p:spPr>
          <a:xfrm>
            <a:off x="4593696" y="4511357"/>
            <a:ext cx="30947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A5200"/>
                </a:solidFill>
                <a:latin typeface="Arial" pitchFamily="34" charset="0"/>
                <a:ea typeface="Arial" pitchFamily="34" charset="-122"/>
                <a:cs typeface="Arial" pitchFamily="34" charset="-120"/>
              </a:rPr>
              <a:t>Refer to a person</a:t>
            </a:r>
            <a:endParaRPr lang="en-US" sz="1600" dirty="0"/>
          </a:p>
        </p:txBody>
      </p:sp>
      <p:sp>
        <p:nvSpPr>
          <p:cNvPr id="24" name="Text 22"/>
          <p:cNvSpPr/>
          <p:nvPr/>
        </p:nvSpPr>
        <p:spPr>
          <a:xfrm>
            <a:off x="4593696" y="4805998"/>
            <a:ext cx="309474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Hold writes, deletes and exports for a reviewer: no answer in time means deny. Flag large reads and requests that may not fit their purpose.</a:t>
            </a:r>
            <a:endParaRPr lang="en-US" sz="1200" dirty="0"/>
          </a:p>
        </p:txBody>
      </p:sp>
      <p:sp>
        <p:nvSpPr>
          <p:cNvPr id="25" name="Shape 23"/>
          <p:cNvSpPr/>
          <p:nvPr/>
        </p:nvSpPr>
        <p:spPr>
          <a:xfrm>
            <a:off x="7961842" y="4331970"/>
            <a:ext cx="3414183" cy="1506855"/>
          </a:xfrm>
          <a:prstGeom prst="roundRect">
            <a:avLst>
              <a:gd name="adj" fmla="val 4846"/>
            </a:avLst>
          </a:prstGeom>
          <a:solidFill>
            <a:srgbClr val="FFFFFF"/>
          </a:solidFill>
          <a:ln w="6350">
            <a:solidFill>
              <a:srgbClr val="D5DBE5"/>
            </a:solidFill>
            <a:prstDash val="solid"/>
          </a:ln>
        </p:spPr>
      </p:sp>
      <p:sp>
        <p:nvSpPr>
          <p:cNvPr id="26" name="Text 24"/>
          <p:cNvSpPr/>
          <p:nvPr/>
        </p:nvSpPr>
        <p:spPr>
          <a:xfrm>
            <a:off x="8166629" y="4511357"/>
            <a:ext cx="30947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5FBF"/>
                </a:solidFill>
                <a:latin typeface="Arial" pitchFamily="34" charset="0"/>
                <a:ea typeface="Arial" pitchFamily="34" charset="-122"/>
                <a:cs typeface="Arial" pitchFamily="34" charset="-120"/>
              </a:rPr>
              <a:t>Allow</a:t>
            </a:r>
            <a:endParaRPr lang="en-US" sz="1600" dirty="0"/>
          </a:p>
        </p:txBody>
      </p:sp>
      <p:sp>
        <p:nvSpPr>
          <p:cNvPr id="27" name="Text 25"/>
          <p:cNvSpPr/>
          <p:nvPr/>
        </p:nvSpPr>
        <p:spPr>
          <a:xfrm>
            <a:off x="8166629" y="4805998"/>
            <a:ext cx="309474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Only when everything agrees. On a model call, tools outside the agent's role are removed first.</a:t>
            </a:r>
            <a:endParaRPr lang="en-US" sz="1200" dirty="0"/>
          </a:p>
        </p:txBody>
      </p:sp>
      <p:sp>
        <p:nvSpPr>
          <p:cNvPr id="28" name="Text 26"/>
          <p:cNvSpPr/>
          <p:nvPr/>
        </p:nvSpPr>
        <p:spPr>
          <a:xfrm>
            <a:off x="812800" y="6238239"/>
            <a:ext cx="46560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Audit fails closed: no record, no call. Telemetry fails open.</a:t>
            </a:r>
            <a:endParaRPr lang="en-US" sz="1200" dirty="0"/>
          </a:p>
        </p:txBody>
      </p:sp>
      <p:sp>
        <p:nvSpPr>
          <p:cNvPr id="29" name="Text 2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The architecture: four networks and one gate</a:t>
            </a:r>
            <a:endParaRPr lang="en-US" sz="3000" dirty="0"/>
          </a:p>
        </p:txBody>
      </p:sp>
      <p:sp>
        <p:nvSpPr>
          <p:cNvPr id="3" name="Shape 1"/>
          <p:cNvSpPr/>
          <p:nvPr/>
        </p:nvSpPr>
        <p:spPr>
          <a:xfrm>
            <a:off x="812800" y="2098993"/>
            <a:ext cx="10566400" cy="800100"/>
          </a:xfrm>
          <a:prstGeom prst="roundRect">
            <a:avLst>
              <a:gd name="adj" fmla="val 9524"/>
            </a:avLst>
          </a:prstGeom>
          <a:solidFill>
            <a:srgbClr val="14213D"/>
          </a:solidFill>
          <a:ln/>
        </p:spPr>
      </p:sp>
      <p:sp>
        <p:nvSpPr>
          <p:cNvPr id="4" name="Text 2"/>
          <p:cNvSpPr/>
          <p:nvPr/>
        </p:nvSpPr>
        <p:spPr>
          <a:xfrm>
            <a:off x="1041400" y="2251393"/>
            <a:ext cx="1041247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A"/>
                </a:solidFill>
                <a:latin typeface="Arial" pitchFamily="34" charset="0"/>
                <a:ea typeface="Arial" pitchFamily="34" charset="-122"/>
                <a:cs typeface="Arial" pitchFamily="34" charset="-120"/>
              </a:rPr>
              <a:t>Policy gateway</a:t>
            </a:r>
            <a:endParaRPr lang="en-US" sz="1600" dirty="0"/>
          </a:p>
        </p:txBody>
      </p:sp>
      <p:sp>
        <p:nvSpPr>
          <p:cNvPr id="5" name="Text 3"/>
          <p:cNvSpPr/>
          <p:nvPr/>
        </p:nvSpPr>
        <p:spPr>
          <a:xfrm>
            <a:off x="1041400" y="2533332"/>
            <a:ext cx="104124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The only component present on all four networks. Everything below reaches its neighbours through it.</a:t>
            </a:r>
            <a:endParaRPr lang="en-US" sz="1200" dirty="0"/>
          </a:p>
        </p:txBody>
      </p:sp>
      <p:sp>
        <p:nvSpPr>
          <p:cNvPr id="6" name="Shape 4"/>
          <p:cNvSpPr/>
          <p:nvPr/>
        </p:nvSpPr>
        <p:spPr>
          <a:xfrm>
            <a:off x="815975" y="3769361"/>
            <a:ext cx="2540000" cy="2069465"/>
          </a:xfrm>
          <a:prstGeom prst="roundRect">
            <a:avLst>
              <a:gd name="adj" fmla="val 3529"/>
            </a:avLst>
          </a:prstGeom>
          <a:solidFill>
            <a:srgbClr val="FFFFFF"/>
          </a:solidFill>
          <a:ln w="6350">
            <a:solidFill>
              <a:srgbClr val="D5DBE5"/>
            </a:solidFill>
            <a:prstDash val="solid"/>
          </a:ln>
        </p:spPr>
      </p:sp>
      <p:sp>
        <p:nvSpPr>
          <p:cNvPr id="7" name="Text 5"/>
          <p:cNvSpPr/>
          <p:nvPr/>
        </p:nvSpPr>
        <p:spPr>
          <a:xfrm>
            <a:off x="995363" y="3948748"/>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Agents network</a:t>
            </a:r>
            <a:endParaRPr lang="en-US" sz="1500" dirty="0"/>
          </a:p>
        </p:txBody>
      </p:sp>
      <p:sp>
        <p:nvSpPr>
          <p:cNvPr id="8" name="Text 6"/>
          <p:cNvSpPr/>
          <p:nvPr/>
        </p:nvSpPr>
        <p:spPr>
          <a:xfrm>
            <a:off x="1106869" y="4253548"/>
            <a:ext cx="2127536" cy="928370"/>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Agent runtime and bridge</a:t>
            </a:r>
            <a:endParaRPr lang="en-US" sz="1200" dirty="0"/>
          </a:p>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LangGraph workflow</a:t>
            </a:r>
            <a:endParaRPr lang="en-US" sz="1200" dirty="0"/>
          </a:p>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Console for people</a:t>
            </a:r>
            <a:endParaRPr lang="en-US" sz="1200" dirty="0"/>
          </a:p>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Provisioner (tokens)</a:t>
            </a:r>
            <a:endParaRPr lang="en-US" sz="1200" dirty="0"/>
          </a:p>
        </p:txBody>
      </p:sp>
      <p:sp>
        <p:nvSpPr>
          <p:cNvPr id="9" name="Text 7"/>
          <p:cNvSpPr/>
          <p:nvPr/>
        </p:nvSpPr>
        <p:spPr>
          <a:xfrm>
            <a:off x="995363" y="5232718"/>
            <a:ext cx="224666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BF"/>
                </a:solidFill>
                <a:latin typeface="Arial" pitchFamily="34" charset="0"/>
                <a:ea typeface="Arial" pitchFamily="34" charset="-122"/>
                <a:cs typeface="Arial" pitchFamily="34" charset="-120"/>
              </a:rPr>
              <a:t>Agents see the gateway and the provisioner only</a:t>
            </a:r>
            <a:endParaRPr lang="en-US" sz="1200" dirty="0"/>
          </a:p>
        </p:txBody>
      </p:sp>
      <p:sp>
        <p:nvSpPr>
          <p:cNvPr id="10" name="Shape 8"/>
          <p:cNvSpPr/>
          <p:nvPr/>
        </p:nvSpPr>
        <p:spPr>
          <a:xfrm>
            <a:off x="3489325" y="3769361"/>
            <a:ext cx="2540000" cy="2069465"/>
          </a:xfrm>
          <a:prstGeom prst="roundRect">
            <a:avLst>
              <a:gd name="adj" fmla="val 3529"/>
            </a:avLst>
          </a:prstGeom>
          <a:solidFill>
            <a:srgbClr val="FFFFFF"/>
          </a:solidFill>
          <a:ln w="6350">
            <a:solidFill>
              <a:srgbClr val="D5DBE5"/>
            </a:solidFill>
            <a:prstDash val="solid"/>
          </a:ln>
        </p:spPr>
      </p:sp>
      <p:sp>
        <p:nvSpPr>
          <p:cNvPr id="11" name="Text 9"/>
          <p:cNvSpPr/>
          <p:nvPr/>
        </p:nvSpPr>
        <p:spPr>
          <a:xfrm>
            <a:off x="3668713" y="3948748"/>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Control network</a:t>
            </a:r>
            <a:endParaRPr lang="en-US" sz="1500" dirty="0"/>
          </a:p>
        </p:txBody>
      </p:sp>
      <p:sp>
        <p:nvSpPr>
          <p:cNvPr id="12" name="Text 10"/>
          <p:cNvSpPr/>
          <p:nvPr/>
        </p:nvSpPr>
        <p:spPr>
          <a:xfrm>
            <a:off x="3780218" y="4253548"/>
            <a:ext cx="2127536" cy="1379855"/>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Identity (Tessera)</a:t>
            </a:r>
            <a:endParaRPr lang="en-US" sz="1200" dirty="0"/>
          </a:p>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Policy engine (OPA)</a:t>
            </a:r>
            <a:endParaRPr lang="en-US" sz="1200" dirty="0"/>
          </a:p>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Audit ledger (Vestigia)</a:t>
            </a:r>
            <a:endParaRPr lang="en-US" sz="1200" dirty="0"/>
          </a:p>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State (Valkey)</a:t>
            </a:r>
            <a:endParaRPr lang="en-US" sz="1200" dirty="0"/>
          </a:p>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Checking model (Ollama)</a:t>
            </a:r>
            <a:endParaRPr lang="en-US" sz="1200" dirty="0"/>
          </a:p>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Telemetry collector</a:t>
            </a:r>
            <a:endParaRPr lang="en-US" sz="1200" dirty="0"/>
          </a:p>
        </p:txBody>
      </p:sp>
      <p:sp>
        <p:nvSpPr>
          <p:cNvPr id="13" name="Shape 11"/>
          <p:cNvSpPr/>
          <p:nvPr/>
        </p:nvSpPr>
        <p:spPr>
          <a:xfrm>
            <a:off x="6162675" y="3769361"/>
            <a:ext cx="2540000" cy="2069465"/>
          </a:xfrm>
          <a:prstGeom prst="roundRect">
            <a:avLst>
              <a:gd name="adj" fmla="val 3529"/>
            </a:avLst>
          </a:prstGeom>
          <a:solidFill>
            <a:srgbClr val="FFFFFF"/>
          </a:solidFill>
          <a:ln w="6350">
            <a:solidFill>
              <a:srgbClr val="D5DBE5"/>
            </a:solidFill>
            <a:prstDash val="solid"/>
          </a:ln>
        </p:spPr>
      </p:sp>
      <p:sp>
        <p:nvSpPr>
          <p:cNvPr id="14" name="Text 12"/>
          <p:cNvSpPr/>
          <p:nvPr/>
        </p:nvSpPr>
        <p:spPr>
          <a:xfrm>
            <a:off x="6342063" y="3948748"/>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Tools network</a:t>
            </a:r>
            <a:endParaRPr lang="en-US" sz="1500" dirty="0"/>
          </a:p>
        </p:txBody>
      </p:sp>
      <p:sp>
        <p:nvSpPr>
          <p:cNvPr id="15" name="Text 13"/>
          <p:cNvSpPr/>
          <p:nvPr/>
        </p:nvSpPr>
        <p:spPr>
          <a:xfrm>
            <a:off x="6453569" y="4253548"/>
            <a:ext cx="2127536" cy="472122"/>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Database, files, reports, export</a:t>
            </a:r>
            <a:endParaRPr lang="en-US" sz="1200" dirty="0"/>
          </a:p>
        </p:txBody>
      </p:sp>
      <p:sp>
        <p:nvSpPr>
          <p:cNvPr id="16" name="Text 14"/>
          <p:cNvSpPr/>
          <p:nvPr/>
        </p:nvSpPr>
        <p:spPr>
          <a:xfrm>
            <a:off x="6342063" y="4776470"/>
            <a:ext cx="22466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Stand-in tools in this build</a:t>
            </a:r>
            <a:endParaRPr lang="en-US" sz="1200" dirty="0"/>
          </a:p>
        </p:txBody>
      </p:sp>
      <p:sp>
        <p:nvSpPr>
          <p:cNvPr id="17" name="Shape 15"/>
          <p:cNvSpPr/>
          <p:nvPr/>
        </p:nvSpPr>
        <p:spPr>
          <a:xfrm>
            <a:off x="8836025" y="3769361"/>
            <a:ext cx="2540000" cy="2069465"/>
          </a:xfrm>
          <a:prstGeom prst="roundRect">
            <a:avLst>
              <a:gd name="adj" fmla="val 3529"/>
            </a:avLst>
          </a:prstGeom>
          <a:solidFill>
            <a:srgbClr val="FFFFFF"/>
          </a:solidFill>
          <a:ln w="6350">
            <a:solidFill>
              <a:srgbClr val="D5DBE5"/>
            </a:solidFill>
            <a:prstDash val="solid"/>
          </a:ln>
        </p:spPr>
      </p:sp>
      <p:sp>
        <p:nvSpPr>
          <p:cNvPr id="18" name="Text 16"/>
          <p:cNvSpPr/>
          <p:nvPr/>
        </p:nvSpPr>
        <p:spPr>
          <a:xfrm>
            <a:off x="9015413" y="3948748"/>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Models network</a:t>
            </a:r>
            <a:endParaRPr lang="en-US" sz="1500" dirty="0"/>
          </a:p>
        </p:txBody>
      </p:sp>
      <p:sp>
        <p:nvSpPr>
          <p:cNvPr id="19" name="Text 17"/>
          <p:cNvSpPr/>
          <p:nvPr/>
        </p:nvSpPr>
        <p:spPr>
          <a:xfrm>
            <a:off x="9126919" y="4253548"/>
            <a:ext cx="2127536" cy="697865"/>
          </a:xfrm>
          <a:prstGeom prst="rect">
            <a:avLst/>
          </a:prstGeom>
          <a:noFill/>
          <a:ln/>
        </p:spPr>
        <p:txBody>
          <a:bodyPr wrap="square" lIns="0" tIns="0" rIns="0" bIns="0" rtlCol="0" anchor="t">
            <a:normAutofit/>
          </a:bodyPr>
          <a:lstStyle/>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Model adapter</a:t>
            </a:r>
            <a:endParaRPr lang="en-US" sz="1200" dirty="0"/>
          </a:p>
          <a:p>
            <a:pPr algn="l" marL="142494" indent="-142494">
              <a:lnSpc>
                <a:spcPts val="1740"/>
              </a:lnSpc>
              <a:buSzPct val="100000"/>
              <a:buChar char="•"/>
            </a:pPr>
            <a:r>
              <a:rPr lang="en-US" sz="1200" dirty="0">
                <a:solidFill>
                  <a:srgbClr val="3D4A61"/>
                </a:solidFill>
                <a:latin typeface="Arial" pitchFamily="34" charset="0"/>
                <a:ea typeface="Arial" pitchFamily="34" charset="-122"/>
                <a:cs typeface="Arial" pitchFamily="34" charset="-120"/>
              </a:rPr>
              <a:t>The agents' local model (Ollama)</a:t>
            </a:r>
            <a:endParaRPr lang="en-US" sz="1200" dirty="0"/>
          </a:p>
        </p:txBody>
      </p:sp>
      <p:sp>
        <p:nvSpPr>
          <p:cNvPr id="20" name="Text 18"/>
          <p:cNvSpPr/>
          <p:nvPr/>
        </p:nvSpPr>
        <p:spPr>
          <a:xfrm>
            <a:off x="9015413" y="5002213"/>
            <a:ext cx="224666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200"/>
                </a:solidFill>
                <a:latin typeface="Arial" pitchFamily="34" charset="0"/>
                <a:ea typeface="Arial" pitchFamily="34" charset="-122"/>
                <a:cs typeface="Arial" pitchFamily="34" charset="-120"/>
              </a:rPr>
              <a:t>The adapter alone has a route out, to Claude Haiku</a:t>
            </a:r>
            <a:endParaRPr lang="en-US" sz="1200" dirty="0"/>
          </a:p>
        </p:txBody>
      </p:sp>
      <p:sp>
        <p:nvSpPr>
          <p:cNvPr id="21" name="Text 19"/>
          <p:cNvSpPr/>
          <p:nvPr/>
        </p:nvSpPr>
        <p:spPr>
          <a:xfrm>
            <a:off x="812800" y="6238239"/>
            <a:ext cx="73505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All four networks are internal. One port is published, to the local machine only: the console.</a:t>
            </a:r>
            <a:endParaRPr lang="en-US" sz="1200" dirty="0"/>
          </a:p>
        </p:txBody>
      </p:sp>
      <p:sp>
        <p:nvSpPr>
          <p:cNvPr id="22" name="Text 20"/>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The build: six stages, open-source components</a:t>
            </a:r>
            <a:endParaRPr lang="en-US" sz="3000" dirty="0"/>
          </a:p>
        </p:txBody>
      </p:sp>
      <p:sp>
        <p:nvSpPr>
          <p:cNvPr id="3" name="Shape 1"/>
          <p:cNvSpPr/>
          <p:nvPr/>
        </p:nvSpPr>
        <p:spPr>
          <a:xfrm>
            <a:off x="812800" y="1779057"/>
            <a:ext cx="10566400" cy="2507933"/>
          </a:xfrm>
          <a:prstGeom prst="rect">
            <a:avLst/>
          </a:prstGeom>
          <a:solidFill>
            <a:srgbClr val="FFFFFF"/>
          </a:solidFill>
          <a:ln/>
        </p:spPr>
      </p:sp>
      <p:sp>
        <p:nvSpPr>
          <p:cNvPr id="4" name="Shape 2"/>
          <p:cNvSpPr/>
          <p:nvPr/>
        </p:nvSpPr>
        <p:spPr>
          <a:xfrm>
            <a:off x="11376025" y="1779057"/>
            <a:ext cx="0" cy="2507933"/>
          </a:xfrm>
          <a:prstGeom prst="line">
            <a:avLst/>
          </a:prstGeom>
          <a:noFill/>
          <a:ln w="6350">
            <a:solidFill>
              <a:srgbClr val="D5DBE5"/>
            </a:solidFill>
            <a:prstDash val="solid"/>
          </a:ln>
        </p:spPr>
      </p:sp>
      <p:sp>
        <p:nvSpPr>
          <p:cNvPr id="5" name="Shape 3"/>
          <p:cNvSpPr/>
          <p:nvPr/>
        </p:nvSpPr>
        <p:spPr>
          <a:xfrm>
            <a:off x="812800" y="4283815"/>
            <a:ext cx="10566400" cy="0"/>
          </a:xfrm>
          <a:prstGeom prst="line">
            <a:avLst/>
          </a:prstGeom>
          <a:noFill/>
          <a:ln w="6350">
            <a:solidFill>
              <a:srgbClr val="D5DBE5"/>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325" y="1788582"/>
          <a:ext cx="10552113" cy="2493645"/>
        </p:xfrm>
        <a:graphic>
          <a:graphicData uri="http://schemas.openxmlformats.org/drawingml/2006/table">
            <a:tbl>
              <a:tblPr/>
              <a:tblGrid>
                <a:gridCol w="949690"/>
                <a:gridCol w="3271155"/>
                <a:gridCol w="6331268"/>
              </a:tblGrid>
              <a:tr h="356235">
                <a:tc>
                  <a:txBody>
                    <a:bodyPr/>
                    <a:lstStyle/>
                    <a:p>
                      <a:pPr indent="0" marL="0">
                        <a:lnSpc>
                          <a:spcPts val="1820"/>
                        </a:lnSpc>
                        <a:buNone/>
                      </a:pPr>
                      <a:r>
                        <a:rPr lang="en-US" sz="1300" b="1" dirty="0">
                          <a:solidFill>
                            <a:srgbClr val="F4F6FA"/>
                          </a:solidFill>
                          <a:latin typeface="Arial" pitchFamily="34" charset="0"/>
                          <a:ea typeface="Arial" pitchFamily="34" charset="-122"/>
                          <a:cs typeface="Arial" pitchFamily="34" charset="-120"/>
                        </a:rPr>
                        <a:t>Stage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4F6FA"/>
                          </a:solidFill>
                          <a:latin typeface="Arial" pitchFamily="34" charset="0"/>
                          <a:ea typeface="Arial" pitchFamily="34" charset="-122"/>
                          <a:cs typeface="Arial" pitchFamily="34" charset="-120"/>
                        </a:rPr>
                        <a:t>What it added</a:t>
                      </a:r>
                      <a:endParaRPr lang="en-US" sz="1300" dirty="0">
                        <a:latin typeface="Arial" charset="0"/>
                        <a:ea typeface="Arial" charset="0"/>
                        <a:cs typeface="Arial"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4F6FA"/>
                          </a:solidFill>
                          <a:latin typeface="Arial" pitchFamily="34" charset="0"/>
                          <a:ea typeface="Arial" pitchFamily="34" charset="-122"/>
                          <a:cs typeface="Arial" pitchFamily="34" charset="-120"/>
                        </a:rPr>
                        <a:t>Built from</a:t>
                      </a:r>
                      <a:endParaRPr lang="en-US" sz="1300" dirty="0">
                        <a:latin typeface="Arial" charset="0"/>
                        <a:ea typeface="Arial" charset="0"/>
                        <a:cs typeface="Arial"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6235">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Foundation</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Tessera and Vestigia (ARTO), Open Policy Agent, Valkey</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235">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Tool path, hold and flag</a:t>
                      </a:r>
                      <a:endParaRPr lang="en-US" sz="1300" dirty="0">
                        <a:latin typeface="Arial" charset="0"/>
                        <a:ea typeface="Arial" charset="0"/>
                        <a:cs typeface="Arial" charset="0"/>
                      </a:endParaRPr>
                    </a:p>
                  </a:txBody>
                  <a:tcPr marL="57785" marR="57785" marT="57785" marB="57785"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Own gateway and provisioner, Rego policies</a:t>
                      </a:r>
                      <a:endParaRPr lang="en-US" sz="1300" dirty="0">
                        <a:latin typeface="Arial" charset="0"/>
                        <a:ea typeface="Arial" charset="0"/>
                        <a:cs typeface="Arial" charset="0"/>
                      </a:endParaRPr>
                    </a:p>
                  </a:txBody>
                  <a:tcPr marL="57785" marR="57785" marT="57785" marB="57785"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r>
              <a:tr h="356235">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Model path</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Own adapter on the LiteLLM library, Claude Haiku</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235">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Telemetry</a:t>
                      </a:r>
                      <a:endParaRPr lang="en-US" sz="1300" dirty="0">
                        <a:latin typeface="Arial" charset="0"/>
                        <a:ea typeface="Arial" charset="0"/>
                        <a:cs typeface="Arial" charset="0"/>
                      </a:endParaRPr>
                    </a:p>
                  </a:txBody>
                  <a:tcPr marL="57785" marR="57785" marT="57785" marB="57785"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OpenTelemetry Collector, one trace per request</a:t>
                      </a:r>
                      <a:endParaRPr lang="en-US" sz="1300" dirty="0">
                        <a:latin typeface="Arial" charset="0"/>
                        <a:ea typeface="Arial" charset="0"/>
                        <a:cs typeface="Arial" charset="0"/>
                      </a:endParaRPr>
                    </a:p>
                  </a:txBody>
                  <a:tcPr marL="57785" marR="57785" marT="57785" marB="57785"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r>
              <a:tr h="356235">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Agents and console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Own agent runtime and web console, audit trail tool</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235">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Workflows, local models, accountability</a:t>
                      </a:r>
                      <a:endParaRPr lang="en-US" sz="1300" dirty="0">
                        <a:latin typeface="Arial" charset="0"/>
                        <a:ea typeface="Arial" charset="0"/>
                        <a:cs typeface="Arial" charset="0"/>
                      </a:endParaRPr>
                    </a:p>
                  </a:txBody>
                  <a:tcPr marL="57785" marR="57785" marT="57785" marB="57785"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LangGraph, Ollama, purpose-fit check, personal accounts</a:t>
                      </a:r>
                      <a:endParaRPr lang="en-US" sz="1300" dirty="0">
                        <a:latin typeface="Arial" charset="0"/>
                        <a:ea typeface="Arial" charset="0"/>
                        <a:cs typeface="Arial" charset="0"/>
                      </a:endParaRPr>
                    </a:p>
                  </a:txBody>
                  <a:tcPr marL="57785" marR="57785" marT="57785" marB="57785"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r>
            </a:tbl>
          </a:graphicData>
        </a:graphic>
      </p:graphicFrame>
      <p:sp>
        <p:nvSpPr>
          <p:cNvPr id="7" name="Text 4"/>
          <p:cNvSpPr/>
          <p:nvPr/>
        </p:nvSpPr>
        <p:spPr>
          <a:xfrm>
            <a:off x="815975" y="4837429"/>
            <a:ext cx="5200650" cy="1001395"/>
          </a:xfrm>
          <a:prstGeom prst="roundRect">
            <a:avLst>
              <a:gd name="adj" fmla="val 7292"/>
            </a:avLst>
          </a:prstGeom>
          <a:solidFill>
            <a:srgbClr val="FFFFFF"/>
          </a:solidFill>
          <a:ln w="6350">
            <a:solidFill>
              <a:srgbClr val="D5DBE5"/>
            </a:solidFill>
            <a:prstDash val="solid"/>
          </a:ln>
        </p:spPr>
        <p:txBody>
          <a:bodyPr wrap="square" lIns="157999" tIns="132599" rIns="12743" bIns="107199" rtlCol="0" anchor="t">
            <a:normAutofit/>
          </a:bodyPr>
          <a:lstStyle/>
          <a:p>
            <a:pPr algn="l" indent="0" marL="0">
              <a:lnSpc>
                <a:spcPts val="1820"/>
              </a:lnSpc>
              <a:buNone/>
            </a:pPr>
            <a:r>
              <a:rPr lang="en-US" sz="1300" b="1" dirty="0">
                <a:solidFill>
                  <a:srgbClr val="3D4A61"/>
                </a:solidFill>
                <a:latin typeface="Arial" pitchFamily="34" charset="0"/>
                <a:ea typeface="Arial" pitchFamily="34" charset="-122"/>
                <a:cs typeface="Arial" pitchFamily="34" charset="-120"/>
              </a:rPr>
              <a:t>Kept as designed:</a:t>
            </a:r>
            <a:r>
              <a:rPr lang="en-US" sz="1300" dirty="0">
                <a:solidFill>
                  <a:srgbClr val="3D4A61"/>
                </a:solidFill>
                <a:latin typeface="Arial" pitchFamily="34" charset="0"/>
                <a:ea typeface="Arial" pitchFamily="34" charset="-122"/>
                <a:cs typeface="Arial" pitchFamily="34" charset="-120"/>
              </a:rPr>
              <a:t> the gateway itself. A proposal to replace it with an off-the-shelf agent gateway was reviewed and declined, to keep declared intent and referral to a person.</a:t>
            </a:r>
            <a:endParaRPr lang="en-US" sz="1300" dirty="0"/>
          </a:p>
        </p:txBody>
      </p:sp>
      <p:sp>
        <p:nvSpPr>
          <p:cNvPr id="8" name="Text 5"/>
          <p:cNvSpPr/>
          <p:nvPr/>
        </p:nvSpPr>
        <p:spPr>
          <a:xfrm>
            <a:off x="6175375" y="4837429"/>
            <a:ext cx="5200650" cy="1001395"/>
          </a:xfrm>
          <a:prstGeom prst="roundRect">
            <a:avLst>
              <a:gd name="adj" fmla="val 7292"/>
            </a:avLst>
          </a:prstGeom>
          <a:solidFill>
            <a:srgbClr val="FFFFFF"/>
          </a:solidFill>
          <a:ln w="6350">
            <a:solidFill>
              <a:srgbClr val="D5DBE5"/>
            </a:solidFill>
            <a:prstDash val="solid"/>
          </a:ln>
        </p:spPr>
        <p:txBody>
          <a:bodyPr wrap="square" lIns="157999" tIns="132599" rIns="12743" bIns="107199" rtlCol="0" anchor="t">
            <a:normAutofit/>
          </a:bodyPr>
          <a:lstStyle/>
          <a:p>
            <a:pPr algn="l" indent="0" marL="0">
              <a:lnSpc>
                <a:spcPts val="1820"/>
              </a:lnSpc>
              <a:buNone/>
            </a:pPr>
            <a:r>
              <a:rPr lang="en-US" sz="1300" b="1" dirty="0">
                <a:solidFill>
                  <a:srgbClr val="3D4A61"/>
                </a:solidFill>
                <a:latin typeface="Arial" pitchFamily="34" charset="0"/>
                <a:ea typeface="Arial" pitchFamily="34" charset="-122"/>
                <a:cs typeface="Arial" pitchFamily="34" charset="-120"/>
              </a:rPr>
              <a:t>How it was built:</a:t>
            </a:r>
            <a:r>
              <a:rPr lang="en-US" sz="1300" dirty="0">
                <a:solidFill>
                  <a:srgbClr val="3D4A61"/>
                </a:solidFill>
                <a:latin typeface="Arial" pitchFamily="34" charset="0"/>
                <a:ea typeface="Arial" pitchFamily="34" charset="-122"/>
                <a:cs typeface="Arial" pitchFamily="34" charset="-120"/>
              </a:rPr>
              <a:t> each stage was written and tested first, then installed on the Kali box under Docker, with acceptance tests run there.</a:t>
            </a:r>
            <a:endParaRPr lang="en-US" sz="1300" dirty="0"/>
          </a:p>
        </p:txBody>
      </p:sp>
      <p:sp>
        <p:nvSpPr>
          <p:cNvPr id="9" name="Text 6"/>
          <p:cNvSpPr/>
          <p:nvPr/>
        </p:nvSpPr>
        <p:spPr>
          <a:xfrm>
            <a:off x="812800" y="6238239"/>
            <a:ext cx="62586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Thirteen services under Docker on one Kali laptop: 16 CPUs, 15 GB memory.</a:t>
            </a:r>
            <a:endParaRPr lang="en-US" sz="1200" dirty="0"/>
          </a:p>
        </p:txBody>
      </p:sp>
      <p:sp>
        <p:nvSpPr>
          <p:cNvPr id="10" name="Text 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Accountability: from a person's request to the record</a:t>
            </a:r>
            <a:endParaRPr lang="en-US" sz="3000" dirty="0"/>
          </a:p>
        </p:txBody>
      </p:sp>
      <p:sp>
        <p:nvSpPr>
          <p:cNvPr id="3" name="Shape 1"/>
          <p:cNvSpPr/>
          <p:nvPr/>
        </p:nvSpPr>
        <p:spPr>
          <a:xfrm>
            <a:off x="815975" y="1745193"/>
            <a:ext cx="1722755" cy="1395095"/>
          </a:xfrm>
          <a:prstGeom prst="roundRect">
            <a:avLst>
              <a:gd name="adj" fmla="val 5234"/>
            </a:avLst>
          </a:prstGeom>
          <a:solidFill>
            <a:srgbClr val="FFFFFF"/>
          </a:solidFill>
          <a:ln w="6350">
            <a:solidFill>
              <a:srgbClr val="D5DBE5"/>
            </a:solidFill>
            <a:prstDash val="solid"/>
          </a:ln>
        </p:spPr>
      </p:sp>
      <p:sp>
        <p:nvSpPr>
          <p:cNvPr id="4" name="Text 2"/>
          <p:cNvSpPr/>
          <p:nvPr/>
        </p:nvSpPr>
        <p:spPr>
          <a:xfrm>
            <a:off x="969963" y="1899180"/>
            <a:ext cx="146558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Arial" pitchFamily="34" charset="0"/>
                <a:ea typeface="Arial" pitchFamily="34" charset="-122"/>
                <a:cs typeface="Arial" pitchFamily="34" charset="-120"/>
              </a:rPr>
              <a:t>Person</a:t>
            </a:r>
            <a:endParaRPr lang="en-US" sz="1400" dirty="0"/>
          </a:p>
        </p:txBody>
      </p:sp>
      <p:sp>
        <p:nvSpPr>
          <p:cNvPr id="5" name="Text 3"/>
          <p:cNvSpPr/>
          <p:nvPr/>
        </p:nvSpPr>
        <p:spPr>
          <a:xfrm>
            <a:off x="969963" y="2163338"/>
            <a:ext cx="1465580"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1"/>
                </a:solidFill>
                <a:latin typeface="Arial" pitchFamily="34" charset="0"/>
                <a:ea typeface="Arial" pitchFamily="34" charset="-122"/>
                <a:cs typeface="Arial" pitchFamily="34" charset="-120"/>
              </a:rPr>
              <a:t>Signs in to the console with a personal account and a role</a:t>
            </a:r>
            <a:endParaRPr lang="en-US" sz="1200" dirty="0"/>
          </a:p>
        </p:txBody>
      </p:sp>
      <p:pic>
        <p:nvPicPr>
          <p:cNvPr id="6" name="Image 0" descr="arrow-right">    </p:cNvPr>
          <p:cNvPicPr>
            <a:picLocks noChangeAspect="1"/>
          </p:cNvPicPr>
          <p:nvPr/>
        </p:nvPicPr>
        <p:blipFill>
          <a:blip r:embed="rId1"/>
          <a:srcRect l="0" r="0" t="0" b="0"/>
          <a:stretch/>
        </p:blipFill>
        <p:spPr>
          <a:xfrm>
            <a:off x="2630805" y="2366538"/>
            <a:ext cx="304800" cy="152400"/>
          </a:xfrm>
          <a:prstGeom prst="rect">
            <a:avLst/>
          </a:prstGeom>
        </p:spPr>
      </p:pic>
      <p:sp>
        <p:nvSpPr>
          <p:cNvPr id="7" name="Shape 4"/>
          <p:cNvSpPr/>
          <p:nvPr/>
        </p:nvSpPr>
        <p:spPr>
          <a:xfrm>
            <a:off x="3027680" y="1848061"/>
            <a:ext cx="1722755" cy="1189355"/>
          </a:xfrm>
          <a:prstGeom prst="roundRect">
            <a:avLst>
              <a:gd name="adj" fmla="val 6140"/>
            </a:avLst>
          </a:prstGeom>
          <a:solidFill>
            <a:srgbClr val="FFFFFF"/>
          </a:solidFill>
          <a:ln w="6350">
            <a:solidFill>
              <a:srgbClr val="D5DBE5"/>
            </a:solidFill>
            <a:prstDash val="solid"/>
          </a:ln>
        </p:spPr>
      </p:sp>
      <p:sp>
        <p:nvSpPr>
          <p:cNvPr id="8" name="Text 5"/>
          <p:cNvSpPr/>
          <p:nvPr/>
        </p:nvSpPr>
        <p:spPr>
          <a:xfrm>
            <a:off x="3181667" y="2002048"/>
            <a:ext cx="146558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Arial" pitchFamily="34" charset="0"/>
                <a:ea typeface="Arial" pitchFamily="34" charset="-122"/>
                <a:cs typeface="Arial" pitchFamily="34" charset="-120"/>
              </a:rPr>
              <a:t>Agent</a:t>
            </a:r>
            <a:endParaRPr lang="en-US" sz="1400" dirty="0"/>
          </a:p>
        </p:txBody>
      </p:sp>
      <p:sp>
        <p:nvSpPr>
          <p:cNvPr id="9" name="Text 6"/>
          <p:cNvSpPr/>
          <p:nvPr/>
        </p:nvSpPr>
        <p:spPr>
          <a:xfrm>
            <a:off x="3181667" y="2266209"/>
            <a:ext cx="146558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1"/>
                </a:solidFill>
                <a:latin typeface="Arial" pitchFamily="34" charset="0"/>
                <a:ea typeface="Arial" pitchFamily="34" charset="-122"/>
                <a:cs typeface="Arial" pitchFamily="34" charset="-120"/>
              </a:rPr>
              <a:t>Acts under its own identity, carrying the person's name</a:t>
            </a:r>
            <a:endParaRPr lang="en-US" sz="1200" dirty="0"/>
          </a:p>
        </p:txBody>
      </p:sp>
      <p:pic>
        <p:nvPicPr>
          <p:cNvPr id="10" name="Image 1" descr="arrow-right">    </p:cNvPr>
          <p:cNvPicPr>
            <a:picLocks noChangeAspect="1"/>
          </p:cNvPicPr>
          <p:nvPr/>
        </p:nvPicPr>
        <p:blipFill>
          <a:blip r:embed="rId2"/>
          <a:srcRect l="0" r="0" t="0" b="0"/>
          <a:stretch/>
        </p:blipFill>
        <p:spPr>
          <a:xfrm>
            <a:off x="4842510" y="2366538"/>
            <a:ext cx="304800" cy="152400"/>
          </a:xfrm>
          <a:prstGeom prst="rect">
            <a:avLst/>
          </a:prstGeom>
        </p:spPr>
      </p:pic>
      <p:sp>
        <p:nvSpPr>
          <p:cNvPr id="11" name="Shape 7"/>
          <p:cNvSpPr/>
          <p:nvPr/>
        </p:nvSpPr>
        <p:spPr>
          <a:xfrm>
            <a:off x="5236210" y="1849648"/>
            <a:ext cx="1719580" cy="1186180"/>
          </a:xfrm>
          <a:prstGeom prst="roundRect">
            <a:avLst>
              <a:gd name="adj" fmla="val 6424"/>
            </a:avLst>
          </a:prstGeom>
          <a:solidFill>
            <a:srgbClr val="14213D"/>
          </a:solidFill>
          <a:ln/>
        </p:spPr>
      </p:sp>
      <p:sp>
        <p:nvSpPr>
          <p:cNvPr id="12" name="Text 8"/>
          <p:cNvSpPr/>
          <p:nvPr/>
        </p:nvSpPr>
        <p:spPr>
          <a:xfrm>
            <a:off x="5388610" y="2002048"/>
            <a:ext cx="146558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6FA"/>
                </a:solidFill>
                <a:latin typeface="Arial" pitchFamily="34" charset="0"/>
                <a:ea typeface="Arial" pitchFamily="34" charset="-122"/>
                <a:cs typeface="Arial" pitchFamily="34" charset="-120"/>
              </a:rPr>
              <a:t>Gateway</a:t>
            </a:r>
            <a:endParaRPr lang="en-US" sz="1400" dirty="0"/>
          </a:p>
        </p:txBody>
      </p:sp>
      <p:sp>
        <p:nvSpPr>
          <p:cNvPr id="13" name="Text 9"/>
          <p:cNvSpPr/>
          <p:nvPr/>
        </p:nvSpPr>
        <p:spPr>
          <a:xfrm>
            <a:off x="5388610" y="2266209"/>
            <a:ext cx="146558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3E6"/>
                </a:solidFill>
                <a:latin typeface="Arial" pitchFamily="34" charset="0"/>
                <a:ea typeface="Arial" pitchFamily="34" charset="-122"/>
                <a:cs typeface="Arial" pitchFamily="34" charset="-120"/>
              </a:rPr>
              <a:t>Decides the call and writes who, what and why</a:t>
            </a:r>
            <a:endParaRPr lang="en-US" sz="1200" dirty="0"/>
          </a:p>
        </p:txBody>
      </p:sp>
      <p:pic>
        <p:nvPicPr>
          <p:cNvPr id="14" name="Image 2" descr="arrow-right">    </p:cNvPr>
          <p:cNvPicPr>
            <a:picLocks noChangeAspect="1"/>
          </p:cNvPicPr>
          <p:nvPr/>
        </p:nvPicPr>
        <p:blipFill>
          <a:blip r:embed="rId3"/>
          <a:srcRect l="0" r="0" t="0" b="0"/>
          <a:stretch/>
        </p:blipFill>
        <p:spPr>
          <a:xfrm>
            <a:off x="7044690" y="2366538"/>
            <a:ext cx="304800" cy="152400"/>
          </a:xfrm>
          <a:prstGeom prst="rect">
            <a:avLst/>
          </a:prstGeom>
        </p:spPr>
      </p:pic>
      <p:sp>
        <p:nvSpPr>
          <p:cNvPr id="15" name="Shape 10"/>
          <p:cNvSpPr/>
          <p:nvPr/>
        </p:nvSpPr>
        <p:spPr>
          <a:xfrm>
            <a:off x="7441565" y="1745193"/>
            <a:ext cx="1722755" cy="1395095"/>
          </a:xfrm>
          <a:prstGeom prst="roundRect">
            <a:avLst>
              <a:gd name="adj" fmla="val 5234"/>
            </a:avLst>
          </a:prstGeom>
          <a:solidFill>
            <a:srgbClr val="FFFFFF"/>
          </a:solidFill>
          <a:ln w="6350">
            <a:solidFill>
              <a:srgbClr val="D5DBE5"/>
            </a:solidFill>
            <a:prstDash val="solid"/>
          </a:ln>
        </p:spPr>
      </p:sp>
      <p:sp>
        <p:nvSpPr>
          <p:cNvPr id="16" name="Text 11"/>
          <p:cNvSpPr/>
          <p:nvPr/>
        </p:nvSpPr>
        <p:spPr>
          <a:xfrm>
            <a:off x="7595553" y="1899180"/>
            <a:ext cx="146558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Arial" pitchFamily="34" charset="0"/>
                <a:ea typeface="Arial" pitchFamily="34" charset="-122"/>
                <a:cs typeface="Arial" pitchFamily="34" charset="-120"/>
              </a:rPr>
              <a:t>Checker</a:t>
            </a:r>
            <a:endParaRPr lang="en-US" sz="1400" dirty="0"/>
          </a:p>
        </p:txBody>
      </p:sp>
      <p:sp>
        <p:nvSpPr>
          <p:cNvPr id="17" name="Text 12"/>
          <p:cNvSpPr/>
          <p:nvPr/>
        </p:nvSpPr>
        <p:spPr>
          <a:xfrm>
            <a:off x="7595553" y="2163338"/>
            <a:ext cx="1465580"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1"/>
                </a:solidFill>
                <a:latin typeface="Arial" pitchFamily="34" charset="0"/>
                <a:ea typeface="Arial" pitchFamily="34" charset="-122"/>
                <a:cs typeface="Arial" pitchFamily="34" charset="-120"/>
              </a:rPr>
              <a:t>Its own model judges whether the request fits the purpose</a:t>
            </a:r>
            <a:endParaRPr lang="en-US" sz="1200" dirty="0"/>
          </a:p>
        </p:txBody>
      </p:sp>
      <p:pic>
        <p:nvPicPr>
          <p:cNvPr id="18" name="Image 3" descr="arrow-right">    </p:cNvPr>
          <p:cNvPicPr>
            <a:picLocks noChangeAspect="1"/>
          </p:cNvPicPr>
          <p:nvPr/>
        </p:nvPicPr>
        <p:blipFill>
          <a:blip r:embed="rId4"/>
          <a:srcRect l="0" r="0" t="0" b="0"/>
          <a:stretch/>
        </p:blipFill>
        <p:spPr>
          <a:xfrm>
            <a:off x="9256395" y="2366538"/>
            <a:ext cx="304800" cy="152400"/>
          </a:xfrm>
          <a:prstGeom prst="rect">
            <a:avLst/>
          </a:prstGeom>
        </p:spPr>
      </p:pic>
      <p:sp>
        <p:nvSpPr>
          <p:cNvPr id="19" name="Shape 13"/>
          <p:cNvSpPr/>
          <p:nvPr/>
        </p:nvSpPr>
        <p:spPr>
          <a:xfrm>
            <a:off x="9653270" y="1745193"/>
            <a:ext cx="1722755" cy="1395095"/>
          </a:xfrm>
          <a:prstGeom prst="roundRect">
            <a:avLst>
              <a:gd name="adj" fmla="val 5234"/>
            </a:avLst>
          </a:prstGeom>
          <a:solidFill>
            <a:srgbClr val="FFFFFF"/>
          </a:solidFill>
          <a:ln w="6350">
            <a:solidFill>
              <a:srgbClr val="D5DBE5"/>
            </a:solidFill>
            <a:prstDash val="solid"/>
          </a:ln>
        </p:spPr>
      </p:sp>
      <p:sp>
        <p:nvSpPr>
          <p:cNvPr id="20" name="Text 14"/>
          <p:cNvSpPr/>
          <p:nvPr/>
        </p:nvSpPr>
        <p:spPr>
          <a:xfrm>
            <a:off x="9807257" y="1899180"/>
            <a:ext cx="146558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Arial" pitchFamily="34" charset="0"/>
                <a:ea typeface="Arial" pitchFamily="34" charset="-122"/>
                <a:cs typeface="Arial" pitchFamily="34" charset="-120"/>
              </a:rPr>
              <a:t>Reviewer</a:t>
            </a:r>
            <a:endParaRPr lang="en-US" sz="1400" dirty="0"/>
          </a:p>
        </p:txBody>
      </p:sp>
      <p:sp>
        <p:nvSpPr>
          <p:cNvPr id="21" name="Text 15"/>
          <p:cNvSpPr/>
          <p:nvPr/>
        </p:nvSpPr>
        <p:spPr>
          <a:xfrm>
            <a:off x="9807257" y="2163338"/>
            <a:ext cx="1465580"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1"/>
                </a:solidFill>
                <a:latin typeface="Arial" pitchFamily="34" charset="0"/>
                <a:ea typeface="Arial" pitchFamily="34" charset="-122"/>
                <a:cs typeface="Arial" pitchFamily="34" charset="-120"/>
              </a:rPr>
              <a:t>Sees flags and held calls, and decides under their own name</a:t>
            </a:r>
            <a:endParaRPr lang="en-US" sz="1200" dirty="0"/>
          </a:p>
        </p:txBody>
      </p:sp>
      <p:sp>
        <p:nvSpPr>
          <p:cNvPr id="22" name="Shape 16"/>
          <p:cNvSpPr/>
          <p:nvPr/>
        </p:nvSpPr>
        <p:spPr>
          <a:xfrm>
            <a:off x="815975" y="3656754"/>
            <a:ext cx="10560050" cy="1245235"/>
          </a:xfrm>
          <a:prstGeom prst="roundRect">
            <a:avLst>
              <a:gd name="adj" fmla="val 5864"/>
            </a:avLst>
          </a:prstGeom>
          <a:solidFill>
            <a:srgbClr val="FFFFFF"/>
          </a:solidFill>
          <a:ln w="6350">
            <a:solidFill>
              <a:srgbClr val="D5DBE5"/>
            </a:solidFill>
            <a:prstDash val="solid"/>
          </a:ln>
        </p:spPr>
      </p:sp>
      <p:sp>
        <p:nvSpPr>
          <p:cNvPr id="23" name="Text 17"/>
          <p:cNvSpPr/>
          <p:nvPr/>
        </p:nvSpPr>
        <p:spPr>
          <a:xfrm>
            <a:off x="1071563" y="3861541"/>
            <a:ext cx="103503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200"/>
                </a:solidFill>
                <a:latin typeface="Arial" pitchFamily="34" charset="0"/>
                <a:ea typeface="Arial" pitchFamily="34" charset="-122"/>
                <a:cs typeface="Arial" pitchFamily="34" charset="-120"/>
              </a:rPr>
              <a:t>A flag as the console shows it</a:t>
            </a:r>
            <a:endParaRPr lang="en-US" sz="1200" dirty="0"/>
          </a:p>
        </p:txBody>
      </p:sp>
      <p:sp>
        <p:nvSpPr>
          <p:cNvPr id="24" name="Text 18"/>
          <p:cNvSpPr/>
          <p:nvPr/>
        </p:nvSpPr>
        <p:spPr>
          <a:xfrm>
            <a:off x="1071563" y="4163802"/>
            <a:ext cx="1035034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"data-analyst-01, on behalf of christophe: a request may not fit the purpose Market research. The checker said: only reports sales figures, not market research."</a:t>
            </a:r>
            <a:endParaRPr lang="en-US" sz="1500" dirty="0"/>
          </a:p>
        </p:txBody>
      </p:sp>
      <p:sp>
        <p:nvSpPr>
          <p:cNvPr id="25" name="Text 19"/>
          <p:cNvSpPr/>
          <p:nvPr/>
        </p:nvSpPr>
        <p:spPr>
          <a:xfrm>
            <a:off x="812800" y="5415279"/>
            <a:ext cx="357293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A61"/>
                </a:solidFill>
                <a:latin typeface="Arial" pitchFamily="34" charset="0"/>
                <a:ea typeface="Arial" pitchFamily="34" charset="-122"/>
                <a:cs typeface="Arial" pitchFamily="34" charset="-120"/>
              </a:rPr>
              <a:t>Each reply is checked,</a:t>
            </a:r>
            <a:r>
              <a:rPr lang="en-US" sz="1200" dirty="0">
                <a:solidFill>
                  <a:srgbClr val="3D4A61"/>
                </a:solidFill>
                <a:latin typeface="Arial" pitchFamily="34" charset="0"/>
                <a:ea typeface="Arial" pitchFamily="34" charset="-122"/>
                <a:cs typeface="Arial" pitchFamily="34" charset="-120"/>
              </a:rPr>
              <a:t> not only the first request.</a:t>
            </a:r>
            <a:endParaRPr lang="en-US" sz="1200" dirty="0"/>
          </a:p>
        </p:txBody>
      </p:sp>
      <p:sp>
        <p:nvSpPr>
          <p:cNvPr id="26" name="Text 20"/>
          <p:cNvSpPr/>
          <p:nvPr/>
        </p:nvSpPr>
        <p:spPr>
          <a:xfrm>
            <a:off x="4385733" y="5415279"/>
            <a:ext cx="352314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A61"/>
                </a:solidFill>
                <a:latin typeface="Arial" pitchFamily="34" charset="0"/>
                <a:ea typeface="Arial" pitchFamily="34" charset="-122"/>
                <a:cs typeface="Arial" pitchFamily="34" charset="-120"/>
              </a:rPr>
              <a:t>The check never blocks.</a:t>
            </a:r>
            <a:r>
              <a:rPr lang="en-US" sz="1200" dirty="0">
                <a:solidFill>
                  <a:srgbClr val="3D4A61"/>
                </a:solidFill>
                <a:latin typeface="Arial" pitchFamily="34" charset="0"/>
                <a:ea typeface="Arial" pitchFamily="34" charset="-122"/>
                <a:cs typeface="Arial" pitchFamily="34" charset="-120"/>
              </a:rPr>
              <a:t> It flags, and the call still runs.</a:t>
            </a:r>
            <a:endParaRPr lang="en-US" sz="1200" dirty="0"/>
          </a:p>
        </p:txBody>
      </p:sp>
      <p:sp>
        <p:nvSpPr>
          <p:cNvPr id="27" name="Text 21"/>
          <p:cNvSpPr/>
          <p:nvPr/>
        </p:nvSpPr>
        <p:spPr>
          <a:xfrm>
            <a:off x="7958667" y="5415279"/>
            <a:ext cx="352314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A61"/>
                </a:solidFill>
                <a:latin typeface="Arial" pitchFamily="34" charset="0"/>
                <a:ea typeface="Arial" pitchFamily="34" charset="-122"/>
                <a:cs typeface="Arial" pitchFamily="34" charset="-120"/>
              </a:rPr>
              <a:t>A flagged request's words are kept.</a:t>
            </a:r>
            <a:r>
              <a:rPr lang="en-US" sz="1200" dirty="0">
                <a:solidFill>
                  <a:srgbClr val="3D4A61"/>
                </a:solidFill>
                <a:latin typeface="Arial" pitchFamily="34" charset="0"/>
                <a:ea typeface="Arial" pitchFamily="34" charset="-122"/>
                <a:cs typeface="Arial" pitchFamily="34" charset="-120"/>
              </a:rPr>
              <a:t> Others leave a fingerprint only.</a:t>
            </a:r>
            <a:endParaRPr lang="en-US" sz="1200" dirty="0"/>
          </a:p>
        </p:txBody>
      </p:sp>
      <p:sp>
        <p:nvSpPr>
          <p:cNvPr id="28" name="Text 22"/>
          <p:cNvSpPr/>
          <p:nvPr/>
        </p:nvSpPr>
        <p:spPr>
          <a:xfrm>
            <a:off x="812800" y="6238239"/>
            <a:ext cx="71878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Every entry is hash-chained. An independent verifier recomputes the chain from the files.</a:t>
            </a:r>
            <a:endParaRPr lang="en-US" sz="1200" dirty="0"/>
          </a:p>
        </p:txBody>
      </p:sp>
      <p:sp>
        <p:nvSpPr>
          <p:cNvPr id="29" name="Text 2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Arial" pitchFamily="34" charset="0"/>
                <a:ea typeface="Arial" pitchFamily="34" charset="-122"/>
                <a:cs typeface="Arial" pitchFamily="34" charset="-120"/>
              </a:rPr>
              <a:t>Evidence from the Kali box</a:t>
            </a:r>
            <a:endParaRPr lang="en-US" sz="3000" dirty="0"/>
          </a:p>
        </p:txBody>
      </p:sp>
      <p:sp>
        <p:nvSpPr>
          <p:cNvPr id="3" name="Shape 1"/>
          <p:cNvSpPr/>
          <p:nvPr/>
        </p:nvSpPr>
        <p:spPr>
          <a:xfrm>
            <a:off x="815975" y="1859279"/>
            <a:ext cx="3414183" cy="1227455"/>
          </a:xfrm>
          <a:prstGeom prst="roundRect">
            <a:avLst>
              <a:gd name="adj" fmla="val 5949"/>
            </a:avLst>
          </a:prstGeom>
          <a:solidFill>
            <a:srgbClr val="FFFFFF"/>
          </a:solidFill>
          <a:ln w="6350">
            <a:solidFill>
              <a:srgbClr val="D5DBE5"/>
            </a:solidFill>
            <a:prstDash val="solid"/>
          </a:ln>
        </p:spPr>
      </p:sp>
      <p:sp>
        <p:nvSpPr>
          <p:cNvPr id="4" name="Text 2"/>
          <p:cNvSpPr/>
          <p:nvPr/>
        </p:nvSpPr>
        <p:spPr>
          <a:xfrm>
            <a:off x="1020763" y="2038666"/>
            <a:ext cx="309474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5FBF"/>
                </a:solidFill>
                <a:latin typeface="Arial" pitchFamily="34" charset="0"/>
                <a:ea typeface="Arial" pitchFamily="34" charset="-122"/>
                <a:cs typeface="Arial" pitchFamily="34" charset="-120"/>
              </a:rPr>
              <a:t>51 and 27</a:t>
            </a:r>
            <a:endParaRPr lang="en-US" sz="2800" dirty="0"/>
          </a:p>
        </p:txBody>
      </p:sp>
      <p:sp>
        <p:nvSpPr>
          <p:cNvPr id="5" name="Text 3"/>
          <p:cNvSpPr/>
          <p:nvPr/>
        </p:nvSpPr>
        <p:spPr>
          <a:xfrm>
            <a:off x="1020763" y="2480627"/>
            <a:ext cx="30947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tool path and model path acceptance checks, all passed</a:t>
            </a:r>
            <a:endParaRPr lang="en-US" sz="1200" dirty="0"/>
          </a:p>
        </p:txBody>
      </p:sp>
      <p:sp>
        <p:nvSpPr>
          <p:cNvPr id="6" name="Shape 4"/>
          <p:cNvSpPr/>
          <p:nvPr/>
        </p:nvSpPr>
        <p:spPr>
          <a:xfrm>
            <a:off x="4388908" y="1859279"/>
            <a:ext cx="3414183" cy="1227455"/>
          </a:xfrm>
          <a:prstGeom prst="roundRect">
            <a:avLst>
              <a:gd name="adj" fmla="val 5949"/>
            </a:avLst>
          </a:prstGeom>
          <a:solidFill>
            <a:srgbClr val="FFFFFF"/>
          </a:solidFill>
          <a:ln w="6350">
            <a:solidFill>
              <a:srgbClr val="D5DBE5"/>
            </a:solidFill>
            <a:prstDash val="solid"/>
          </a:ln>
        </p:spPr>
      </p:sp>
      <p:sp>
        <p:nvSpPr>
          <p:cNvPr id="7" name="Text 5"/>
          <p:cNvSpPr/>
          <p:nvPr/>
        </p:nvSpPr>
        <p:spPr>
          <a:xfrm>
            <a:off x="4593696" y="2038666"/>
            <a:ext cx="309474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5FBF"/>
                </a:solidFill>
                <a:latin typeface="Arial" pitchFamily="34" charset="0"/>
                <a:ea typeface="Arial" pitchFamily="34" charset="-122"/>
                <a:cs typeface="Arial" pitchFamily="34" charset="-120"/>
              </a:rPr>
              <a:t>12 of 12</a:t>
            </a:r>
            <a:endParaRPr lang="en-US" sz="2800" dirty="0"/>
          </a:p>
        </p:txBody>
      </p:sp>
      <p:sp>
        <p:nvSpPr>
          <p:cNvPr id="8" name="Text 6"/>
          <p:cNvSpPr/>
          <p:nvPr/>
        </p:nvSpPr>
        <p:spPr>
          <a:xfrm>
            <a:off x="4593696" y="2480627"/>
            <a:ext cx="30947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isolation checks: an agent finds only the gateway and the provisioner</a:t>
            </a:r>
            <a:endParaRPr lang="en-US" sz="1200" dirty="0"/>
          </a:p>
        </p:txBody>
      </p:sp>
      <p:sp>
        <p:nvSpPr>
          <p:cNvPr id="9" name="Shape 7"/>
          <p:cNvSpPr/>
          <p:nvPr/>
        </p:nvSpPr>
        <p:spPr>
          <a:xfrm>
            <a:off x="7961842" y="1859279"/>
            <a:ext cx="3414183" cy="1227455"/>
          </a:xfrm>
          <a:prstGeom prst="roundRect">
            <a:avLst>
              <a:gd name="adj" fmla="val 5949"/>
            </a:avLst>
          </a:prstGeom>
          <a:solidFill>
            <a:srgbClr val="FFFFFF"/>
          </a:solidFill>
          <a:ln w="6350">
            <a:solidFill>
              <a:srgbClr val="D5DBE5"/>
            </a:solidFill>
            <a:prstDash val="solid"/>
          </a:ln>
        </p:spPr>
      </p:sp>
      <p:sp>
        <p:nvSpPr>
          <p:cNvPr id="10" name="Text 8"/>
          <p:cNvSpPr/>
          <p:nvPr/>
        </p:nvSpPr>
        <p:spPr>
          <a:xfrm>
            <a:off x="8166629" y="2038666"/>
            <a:ext cx="309474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5FBF"/>
                </a:solidFill>
                <a:latin typeface="Arial" pitchFamily="34" charset="0"/>
                <a:ea typeface="Arial" pitchFamily="34" charset="-122"/>
                <a:cs typeface="Arial" pitchFamily="34" charset="-120"/>
              </a:rPr>
              <a:t>3 of 3</a:t>
            </a:r>
            <a:endParaRPr lang="en-US" sz="2800" dirty="0"/>
          </a:p>
        </p:txBody>
      </p:sp>
      <p:sp>
        <p:nvSpPr>
          <p:cNvPr id="11" name="Text 9"/>
          <p:cNvSpPr/>
          <p:nvPr/>
        </p:nvSpPr>
        <p:spPr>
          <a:xfrm>
            <a:off x="8166629" y="2480627"/>
            <a:ext cx="30947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alterations of a ledger copy caught by the independent verifier</a:t>
            </a:r>
            <a:endParaRPr lang="en-US" sz="1200" dirty="0"/>
          </a:p>
        </p:txBody>
      </p:sp>
      <p:sp>
        <p:nvSpPr>
          <p:cNvPr id="12" name="Shape 10"/>
          <p:cNvSpPr/>
          <p:nvPr/>
        </p:nvSpPr>
        <p:spPr>
          <a:xfrm>
            <a:off x="815975" y="3245486"/>
            <a:ext cx="3414183" cy="1227455"/>
          </a:xfrm>
          <a:prstGeom prst="roundRect">
            <a:avLst>
              <a:gd name="adj" fmla="val 5949"/>
            </a:avLst>
          </a:prstGeom>
          <a:solidFill>
            <a:srgbClr val="FFFFFF"/>
          </a:solidFill>
          <a:ln w="6350">
            <a:solidFill>
              <a:srgbClr val="D5DBE5"/>
            </a:solidFill>
            <a:prstDash val="solid"/>
          </a:ln>
        </p:spPr>
      </p:sp>
      <p:sp>
        <p:nvSpPr>
          <p:cNvPr id="13" name="Text 11"/>
          <p:cNvSpPr/>
          <p:nvPr/>
        </p:nvSpPr>
        <p:spPr>
          <a:xfrm>
            <a:off x="1020763" y="3424873"/>
            <a:ext cx="309474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5FBF"/>
                </a:solidFill>
                <a:latin typeface="Arial" pitchFamily="34" charset="0"/>
                <a:ea typeface="Arial" pitchFamily="34" charset="-122"/>
                <a:cs typeface="Arial" pitchFamily="34" charset="-120"/>
              </a:rPr>
              <a:t>4 to 5 ms</a:t>
            </a:r>
            <a:endParaRPr lang="en-US" sz="2800" dirty="0"/>
          </a:p>
        </p:txBody>
      </p:sp>
      <p:sp>
        <p:nvSpPr>
          <p:cNvPr id="14" name="Text 12"/>
          <p:cNvSpPr/>
          <p:nvPr/>
        </p:nvSpPr>
        <p:spPr>
          <a:xfrm>
            <a:off x="1020763" y="3866834"/>
            <a:ext cx="30947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to verify identity, decide and check limits, before the audit write</a:t>
            </a:r>
            <a:endParaRPr lang="en-US" sz="1200" dirty="0"/>
          </a:p>
        </p:txBody>
      </p:sp>
      <p:sp>
        <p:nvSpPr>
          <p:cNvPr id="15" name="Shape 13"/>
          <p:cNvSpPr/>
          <p:nvPr/>
        </p:nvSpPr>
        <p:spPr>
          <a:xfrm>
            <a:off x="4388908" y="3245486"/>
            <a:ext cx="3414183" cy="1227455"/>
          </a:xfrm>
          <a:prstGeom prst="roundRect">
            <a:avLst>
              <a:gd name="adj" fmla="val 5949"/>
            </a:avLst>
          </a:prstGeom>
          <a:solidFill>
            <a:srgbClr val="FFFFFF"/>
          </a:solidFill>
          <a:ln w="6350">
            <a:solidFill>
              <a:srgbClr val="D5DBE5"/>
            </a:solidFill>
            <a:prstDash val="solid"/>
          </a:ln>
        </p:spPr>
      </p:sp>
      <p:sp>
        <p:nvSpPr>
          <p:cNvPr id="16" name="Text 14"/>
          <p:cNvSpPr/>
          <p:nvPr/>
        </p:nvSpPr>
        <p:spPr>
          <a:xfrm>
            <a:off x="4593696" y="3424873"/>
            <a:ext cx="309474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8A5200"/>
                </a:solidFill>
                <a:latin typeface="Arial" pitchFamily="34" charset="0"/>
                <a:ea typeface="Arial" pitchFamily="34" charset="-122"/>
                <a:cs typeface="Arial" pitchFamily="34" charset="-120"/>
              </a:rPr>
              <a:t>57 to 180 ms</a:t>
            </a:r>
            <a:endParaRPr lang="en-US" sz="2800" dirty="0"/>
          </a:p>
        </p:txBody>
      </p:sp>
      <p:sp>
        <p:nvSpPr>
          <p:cNvPr id="17" name="Text 15"/>
          <p:cNvSpPr/>
          <p:nvPr/>
        </p:nvSpPr>
        <p:spPr>
          <a:xfrm>
            <a:off x="4593696" y="3866834"/>
            <a:ext cx="30947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for each audit write, rising with ledger size from 600 to 4,500 entries</a:t>
            </a:r>
            <a:endParaRPr lang="en-US" sz="1200" dirty="0"/>
          </a:p>
        </p:txBody>
      </p:sp>
      <p:sp>
        <p:nvSpPr>
          <p:cNvPr id="18" name="Shape 16"/>
          <p:cNvSpPr/>
          <p:nvPr/>
        </p:nvSpPr>
        <p:spPr>
          <a:xfrm>
            <a:off x="7961842" y="3245486"/>
            <a:ext cx="3414183" cy="1227455"/>
          </a:xfrm>
          <a:prstGeom prst="roundRect">
            <a:avLst>
              <a:gd name="adj" fmla="val 5949"/>
            </a:avLst>
          </a:prstGeom>
          <a:solidFill>
            <a:srgbClr val="FFFFFF"/>
          </a:solidFill>
          <a:ln w="6350">
            <a:solidFill>
              <a:srgbClr val="D5DBE5"/>
            </a:solidFill>
            <a:prstDash val="solid"/>
          </a:ln>
        </p:spPr>
      </p:sp>
      <p:sp>
        <p:nvSpPr>
          <p:cNvPr id="19" name="Text 17"/>
          <p:cNvSpPr/>
          <p:nvPr/>
        </p:nvSpPr>
        <p:spPr>
          <a:xfrm>
            <a:off x="8166629" y="3424873"/>
            <a:ext cx="3094747"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8A5200"/>
                </a:solidFill>
                <a:latin typeface="Arial" pitchFamily="34" charset="0"/>
                <a:ea typeface="Arial" pitchFamily="34" charset="-122"/>
                <a:cs typeface="Arial" pitchFamily="34" charset="-120"/>
              </a:rPr>
              <a:t>6 of 6</a:t>
            </a:r>
            <a:endParaRPr lang="en-US" sz="2800" dirty="0"/>
          </a:p>
        </p:txBody>
      </p:sp>
      <p:sp>
        <p:nvSpPr>
          <p:cNvPr id="20" name="Text 18"/>
          <p:cNvSpPr/>
          <p:nvPr/>
        </p:nvSpPr>
        <p:spPr>
          <a:xfrm>
            <a:off x="8166629" y="3866834"/>
            <a:ext cx="30947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1"/>
                </a:solidFill>
                <a:latin typeface="Arial" pitchFamily="34" charset="0"/>
                <a:ea typeface="Arial" pitchFamily="34" charset="-122"/>
                <a:cs typeface="Arial" pitchFamily="34" charset="-120"/>
              </a:rPr>
              <a:t>off-purpose requests flagged. No count yet of false alarms on legitimate ones</a:t>
            </a:r>
            <a:endParaRPr lang="en-US" sz="1200" dirty="0"/>
          </a:p>
        </p:txBody>
      </p:sp>
      <p:sp>
        <p:nvSpPr>
          <p:cNvPr id="21" name="Text 19"/>
          <p:cNvSpPr/>
          <p:nvPr/>
        </p:nvSpPr>
        <p:spPr>
          <a:xfrm>
            <a:off x="812800" y="5100321"/>
            <a:ext cx="10566400" cy="741680"/>
          </a:xfrm>
          <a:prstGeom prst="roundRect">
            <a:avLst>
              <a:gd name="adj" fmla="val 10274"/>
            </a:avLst>
          </a:prstGeom>
          <a:solidFill>
            <a:srgbClr val="EEF1F6"/>
          </a:solidFill>
          <a:ln/>
        </p:spPr>
        <p:txBody>
          <a:bodyPr wrap="square" lIns="155482" tIns="117382" rIns="0" bIns="91982" rtlCol="0" anchor="t">
            <a:normAutofit/>
          </a:bodyPr>
          <a:lstStyle/>
          <a:p>
            <a:pPr algn="l" indent="0" marL="0">
              <a:lnSpc>
                <a:spcPts val="1820"/>
              </a:lnSpc>
              <a:buNone/>
            </a:pPr>
            <a:r>
              <a:rPr lang="en-US" sz="1300" dirty="0">
                <a:solidFill>
                  <a:srgbClr val="3D4A61"/>
                </a:solidFill>
                <a:latin typeface="Arial" pitchFamily="34" charset="0"/>
                <a:ea typeface="Arial" pitchFamily="34" charset="-122"/>
                <a:cs typeface="Arial" pitchFamily="34" charset="-120"/>
              </a:rPr>
              <a:t>Also shown working there: both agents through the console with Claude Haiku and with the local model, the LangGraph hand-over from analyst to writer, a held export approved and rejected, and replies to an agent.</a:t>
            </a:r>
            <a:endParaRPr lang="en-US" sz="1300" dirty="0"/>
          </a:p>
        </p:txBody>
      </p:sp>
      <p:sp>
        <p:nvSpPr>
          <p:cNvPr id="22" name="Text 20"/>
          <p:cNvSpPr/>
          <p:nvPr/>
        </p:nvSpPr>
        <p:spPr>
          <a:xfrm>
            <a:off x="812800" y="6238239"/>
            <a:ext cx="82254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80"/>
                </a:solidFill>
                <a:latin typeface="Arial" pitchFamily="34" charset="0"/>
                <a:ea typeface="Arial" pitchFamily="34" charset="-122"/>
                <a:cs typeface="Arial" pitchFamily="34" charset="-120"/>
              </a:rPr>
              <a:t>Measured 4 and 5 October 2026. Latency from the one-worker run. The audit ledger is the bottleneck.</a:t>
            </a:r>
            <a:endParaRPr lang="en-US" sz="1200" dirty="0"/>
          </a:p>
        </p:txBody>
      </p:sp>
      <p:sp>
        <p:nvSpPr>
          <p:cNvPr id="23" name="Text 2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80"/>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4F6FA"/>
                </a:solidFill>
                <a:latin typeface="Arial" pitchFamily="34" charset="0"/>
                <a:ea typeface="Arial" pitchFamily="34" charset="-122"/>
                <a:cs typeface="Arial" pitchFamily="34" charset="-120"/>
              </a:rPr>
              <a:t>What the build taught, and what remains open</a:t>
            </a:r>
            <a:endParaRPr lang="en-US" sz="3000" dirty="0"/>
          </a:p>
        </p:txBody>
      </p:sp>
      <p:sp>
        <p:nvSpPr>
          <p:cNvPr id="3" name="Shape 1"/>
          <p:cNvSpPr/>
          <p:nvPr/>
        </p:nvSpPr>
        <p:spPr>
          <a:xfrm>
            <a:off x="812800" y="2141221"/>
            <a:ext cx="5207000" cy="3700780"/>
          </a:xfrm>
          <a:prstGeom prst="roundRect">
            <a:avLst>
              <a:gd name="adj" fmla="val 2059"/>
            </a:avLst>
          </a:prstGeom>
          <a:solidFill>
            <a:srgbClr val="24365C"/>
          </a:solidFill>
          <a:ln/>
        </p:spPr>
      </p:sp>
      <p:sp>
        <p:nvSpPr>
          <p:cNvPr id="4" name="Text 2"/>
          <p:cNvSpPr/>
          <p:nvPr/>
        </p:nvSpPr>
        <p:spPr>
          <a:xfrm>
            <a:off x="1066800" y="2369821"/>
            <a:ext cx="483997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84B"/>
                </a:solidFill>
                <a:latin typeface="Arial" pitchFamily="34" charset="0"/>
                <a:ea typeface="Arial" pitchFamily="34" charset="-122"/>
                <a:cs typeface="Arial" pitchFamily="34" charset="-120"/>
              </a:rPr>
              <a:t>Findings</a:t>
            </a:r>
            <a:endParaRPr lang="en-US" sz="1600" dirty="0"/>
          </a:p>
        </p:txBody>
      </p:sp>
      <p:sp>
        <p:nvSpPr>
          <p:cNvPr id="5" name="Text 3"/>
          <p:cNvSpPr/>
          <p:nvPr/>
        </p:nvSpPr>
        <p:spPr>
          <a:xfrm>
            <a:off x="1066800" y="2727961"/>
            <a:ext cx="483997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6FA"/>
                </a:solidFill>
                <a:latin typeface="Arial" pitchFamily="34" charset="0"/>
                <a:ea typeface="Arial" pitchFamily="34" charset="-122"/>
                <a:cs typeface="Arial" pitchFamily="34" charset="-120"/>
              </a:rPr>
              <a:t>The gateway governs what an agent may do, not whether what it says is true.</a:t>
            </a:r>
            <a:r>
              <a:rPr lang="en-US" sz="1300" dirty="0">
                <a:solidFill>
                  <a:srgbClr val="F4F6FA"/>
                </a:solidFill>
                <a:latin typeface="Arial" pitchFamily="34" charset="0"/>
                <a:ea typeface="Arial" pitchFamily="34" charset="-122"/>
                <a:cs typeface="Arial" pitchFamily="34" charset="-120"/>
              </a:rPr>
              <a:t> The local model invented sales figures without reading the database. Every call was permitted.</a:t>
            </a:r>
            <a:endParaRPr lang="en-US" sz="1300" dirty="0"/>
          </a:p>
        </p:txBody>
      </p:sp>
      <p:sp>
        <p:nvSpPr>
          <p:cNvPr id="6" name="Text 4"/>
          <p:cNvSpPr/>
          <p:nvPr/>
        </p:nvSpPr>
        <p:spPr>
          <a:xfrm>
            <a:off x="1066800" y="3535679"/>
            <a:ext cx="483997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6FA"/>
                </a:solidFill>
                <a:latin typeface="Arial" pitchFamily="34" charset="0"/>
                <a:ea typeface="Arial" pitchFamily="34" charset="-122"/>
                <a:cs typeface="Arial" pitchFamily="34" charset="-120"/>
              </a:rPr>
              <a:t>A model's own sense of scope is not a control.</a:t>
            </a:r>
            <a:r>
              <a:rPr lang="en-US" sz="1300" dirty="0">
                <a:solidFill>
                  <a:srgbClr val="F4F6FA"/>
                </a:solidFill>
                <a:latin typeface="Arial" pitchFamily="34" charset="0"/>
                <a:ea typeface="Arial" pitchFamily="34" charset="-122"/>
                <a:cs typeface="Arial" pitchFamily="34" charset="-120"/>
              </a:rPr>
              <a:t> Claude Haiku refused the pizza recipe, then wrote it as a "research report" two replies later.</a:t>
            </a:r>
            <a:endParaRPr lang="en-US" sz="1300" dirty="0"/>
          </a:p>
        </p:txBody>
      </p:sp>
      <p:sp>
        <p:nvSpPr>
          <p:cNvPr id="7" name="Text 5"/>
          <p:cNvSpPr/>
          <p:nvPr/>
        </p:nvSpPr>
        <p:spPr>
          <a:xfrm>
            <a:off x="1066800" y="4343400"/>
            <a:ext cx="483997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6FA"/>
                </a:solidFill>
                <a:latin typeface="Arial" pitchFamily="34" charset="0"/>
                <a:ea typeface="Arial" pitchFamily="34" charset="-122"/>
                <a:cs typeface="Arial" pitchFamily="34" charset="-120"/>
              </a:rPr>
              <a:t>A hash chain protects content and order, not time.</a:t>
            </a:r>
            <a:r>
              <a:rPr lang="en-US" sz="1300" dirty="0">
                <a:solidFill>
                  <a:srgbClr val="F4F6FA"/>
                </a:solidFill>
                <a:latin typeface="Arial" pitchFamily="34" charset="0"/>
                <a:ea typeface="Arial" pitchFamily="34" charset="-122"/>
                <a:cs typeface="Arial" pitchFamily="34" charset="-120"/>
              </a:rPr>
              <a:t> Dual-booting the laptop put about 110 entries eight hours out, with every hash still valid.</a:t>
            </a:r>
            <a:endParaRPr lang="en-US" sz="1300" dirty="0"/>
          </a:p>
        </p:txBody>
      </p:sp>
      <p:sp>
        <p:nvSpPr>
          <p:cNvPr id="8" name="Text 6"/>
          <p:cNvSpPr/>
          <p:nvPr/>
        </p:nvSpPr>
        <p:spPr>
          <a:xfrm>
            <a:off x="1066800" y="5151121"/>
            <a:ext cx="483997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6FA"/>
                </a:solidFill>
                <a:latin typeface="Arial" pitchFamily="34" charset="0"/>
                <a:ea typeface="Arial" pitchFamily="34" charset="-122"/>
                <a:cs typeface="Arial" pitchFamily="34" charset="-120"/>
              </a:rPr>
              <a:t>Declared intent is a claim.</a:t>
            </a:r>
            <a:r>
              <a:rPr lang="en-US" sz="1300" dirty="0">
                <a:solidFill>
                  <a:srgbClr val="F4F6FA"/>
                </a:solidFill>
                <a:latin typeface="Arial" pitchFamily="34" charset="0"/>
                <a:ea typeface="Arial" pitchFamily="34" charset="-122"/>
                <a:cs typeface="Arial" pitchFamily="34" charset="-120"/>
              </a:rPr>
              <a:t> It needs a separate check, and a named person behind it.</a:t>
            </a:r>
            <a:endParaRPr lang="en-US" sz="1300" dirty="0"/>
          </a:p>
        </p:txBody>
      </p:sp>
      <p:sp>
        <p:nvSpPr>
          <p:cNvPr id="9" name="Shape 7"/>
          <p:cNvSpPr/>
          <p:nvPr/>
        </p:nvSpPr>
        <p:spPr>
          <a:xfrm>
            <a:off x="6172200" y="2141221"/>
            <a:ext cx="5207000" cy="3700780"/>
          </a:xfrm>
          <a:prstGeom prst="roundRect">
            <a:avLst>
              <a:gd name="adj" fmla="val 2059"/>
            </a:avLst>
          </a:prstGeom>
          <a:solidFill>
            <a:srgbClr val="24365C"/>
          </a:solidFill>
          <a:ln/>
        </p:spPr>
      </p:sp>
      <p:sp>
        <p:nvSpPr>
          <p:cNvPr id="10" name="Text 8"/>
          <p:cNvSpPr/>
          <p:nvPr/>
        </p:nvSpPr>
        <p:spPr>
          <a:xfrm>
            <a:off x="6426200" y="2369821"/>
            <a:ext cx="483997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84B"/>
                </a:solidFill>
                <a:latin typeface="Arial" pitchFamily="34" charset="0"/>
                <a:ea typeface="Arial" pitchFamily="34" charset="-122"/>
                <a:cs typeface="Arial" pitchFamily="34" charset="-120"/>
              </a:rPr>
              <a:t>Open</a:t>
            </a:r>
            <a:endParaRPr lang="en-US" sz="1600" dirty="0"/>
          </a:p>
        </p:txBody>
      </p:sp>
      <p:sp>
        <p:nvSpPr>
          <p:cNvPr id="11" name="Text 9"/>
          <p:cNvSpPr/>
          <p:nvPr/>
        </p:nvSpPr>
        <p:spPr>
          <a:xfrm>
            <a:off x="6524244" y="2727961"/>
            <a:ext cx="4734306" cy="1973897"/>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F4F6FA"/>
                </a:solidFill>
                <a:latin typeface="Arial" pitchFamily="34" charset="0"/>
                <a:ea typeface="Arial" pitchFamily="34" charset="-122"/>
                <a:cs typeface="Arial" pitchFamily="34" charset="-120"/>
              </a:rPr>
              <a:t>The person is verified at the console, not at the gateway</a:t>
            </a:r>
            <a:endParaRPr lang="en-US" sz="1300" dirty="0"/>
          </a:p>
          <a:p>
            <a:pPr algn="l" marL="155956" indent="-155956">
              <a:lnSpc>
                <a:spcPts val="1885"/>
              </a:lnSpc>
              <a:buSzPct val="100000"/>
              <a:buChar char="•"/>
            </a:pPr>
            <a:r>
              <a:rPr lang="en-US" sz="1300" dirty="0">
                <a:solidFill>
                  <a:srgbClr val="F4F6FA"/>
                </a:solidFill>
                <a:latin typeface="Arial" pitchFamily="34" charset="0"/>
                <a:ea typeface="Arial" pitchFamily="34" charset="-122"/>
                <a:cs typeface="Arial" pitchFamily="34" charset="-120"/>
              </a:rPr>
              <a:t>The purpose-fit check is advisory and its error rates are unmeasured</a:t>
            </a:r>
            <a:endParaRPr lang="en-US" sz="1300" dirty="0"/>
          </a:p>
          <a:p>
            <a:pPr algn="l" marL="155956" indent="-155956">
              <a:lnSpc>
                <a:spcPts val="1885"/>
              </a:lnSpc>
              <a:buSzPct val="100000"/>
              <a:buChar char="•"/>
            </a:pPr>
            <a:r>
              <a:rPr lang="en-US" sz="1300" dirty="0">
                <a:solidFill>
                  <a:srgbClr val="F4F6FA"/>
                </a:solidFill>
                <a:latin typeface="Arial" pitchFamily="34" charset="0"/>
                <a:ea typeface="Arial" pitchFamily="34" charset="-122"/>
                <a:cs typeface="Arial" pitchFamily="34" charset="-120"/>
              </a:rPr>
              <a:t>Tools are stand-ins and the registry holds examples</a:t>
            </a:r>
            <a:endParaRPr lang="en-US" sz="1300" dirty="0"/>
          </a:p>
          <a:p>
            <a:pPr algn="l" marL="155956" indent="-155956">
              <a:lnSpc>
                <a:spcPts val="1885"/>
              </a:lnSpc>
              <a:buSzPct val="100000"/>
              <a:buChar char="•"/>
            </a:pPr>
            <a:r>
              <a:rPr lang="en-US" sz="1300" dirty="0">
                <a:solidFill>
                  <a:srgbClr val="F4F6FA"/>
                </a:solidFill>
                <a:latin typeface="Arial" pitchFamily="34" charset="0"/>
                <a:ea typeface="Arial" pitchFamily="34" charset="-122"/>
                <a:cs typeface="Arial" pitchFamily="34" charset="-120"/>
              </a:rPr>
              <a:t>No delegated credential between agents</a:t>
            </a:r>
            <a:endParaRPr lang="en-US" sz="1300" dirty="0"/>
          </a:p>
          <a:p>
            <a:pPr algn="l" marL="155956" indent="-155956">
              <a:lnSpc>
                <a:spcPts val="1885"/>
              </a:lnSpc>
              <a:buSzPct val="100000"/>
              <a:buChar char="•"/>
            </a:pPr>
            <a:r>
              <a:rPr lang="en-US" sz="1300" dirty="0">
                <a:solidFill>
                  <a:srgbClr val="F4F6FA"/>
                </a:solidFill>
                <a:latin typeface="Arial" pitchFamily="34" charset="0"/>
                <a:ea typeface="Arial" pitchFamily="34" charset="-122"/>
                <a:cs typeface="Arial" pitchFamily="34" charset="-120"/>
              </a:rPr>
              <a:t>Tool responses are fingerprinted, not inspected</a:t>
            </a:r>
            <a:endParaRPr lang="en-US" sz="1300" dirty="0"/>
          </a:p>
          <a:p>
            <a:pPr algn="l" marL="155956" indent="-155956">
              <a:lnSpc>
                <a:spcPts val="1885"/>
              </a:lnSpc>
              <a:buSzPct val="100000"/>
              <a:buChar char="•"/>
            </a:pPr>
            <a:r>
              <a:rPr lang="en-US" sz="1300" dirty="0">
                <a:solidFill>
                  <a:srgbClr val="F4F6FA"/>
                </a:solidFill>
                <a:latin typeface="Arial" pitchFamily="34" charset="0"/>
                <a:ea typeface="Arial" pitchFamily="34" charset="-122"/>
                <a:cs typeface="Arial" pitchFamily="34" charset="-120"/>
              </a:rPr>
              <a:t>The ledger slows as it grows and has no trusted time source</a:t>
            </a:r>
            <a:endParaRPr lang="en-US" sz="1300" dirty="0"/>
          </a:p>
          <a:p>
            <a:pPr algn="l" marL="155956" indent="-155956">
              <a:lnSpc>
                <a:spcPts val="1885"/>
              </a:lnSpc>
              <a:buSzPct val="100000"/>
              <a:buChar char="•"/>
            </a:pPr>
            <a:r>
              <a:rPr lang="en-US" sz="1300" dirty="0">
                <a:solidFill>
                  <a:srgbClr val="F4F6FA"/>
                </a:solidFill>
                <a:latin typeface="Arial" pitchFamily="34" charset="0"/>
                <a:ea typeface="Arial" pitchFamily="34" charset="-122"/>
                <a:cs typeface="Arial" pitchFamily="34" charset="-120"/>
              </a:rPr>
              <a:t>The model adapter's route out is not limited to the provider</a:t>
            </a:r>
            <a:endParaRPr lang="en-US" sz="1300" dirty="0"/>
          </a:p>
        </p:txBody>
      </p:sp>
      <p:sp>
        <p:nvSpPr>
          <p:cNvPr id="12" name="Text 10"/>
          <p:cNvSpPr/>
          <p:nvPr/>
        </p:nvSpPr>
        <p:spPr>
          <a:xfrm>
            <a:off x="812800" y="6238242"/>
            <a:ext cx="8153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Next: a labelled test set for the checker, real registry values, and the corrections to Chapters 6 and 7.</a:t>
            </a:r>
            <a:endParaRPr lang="en-US" sz="1200" dirty="0"/>
          </a:p>
        </p:txBody>
      </p:sp>
      <p:sp>
        <p:nvSpPr>
          <p:cNvPr id="13" name="Text 1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E6"/>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theme/theme1.xml><?xml version="1.0" encoding="utf-8"?>
<a:theme xmlns:a="http://schemas.openxmlformats.org/drawingml/2006/main" name="Policy gateway: design and build summary">
  <a:themeElements>
    <a:clrScheme name="Policy gateway: design and build summary">
      <a:dk1>
        <a:srgbClr val="14213D"/>
      </a:dk1>
      <a:lt1>
        <a:srgbClr val="F7F8FA"/>
      </a:lt1>
      <a:dk2>
        <a:srgbClr val="4D576C"/>
      </a:dk2>
      <a:lt2>
        <a:srgbClr val="E0E3E7"/>
      </a:lt2>
      <a:accent1>
        <a:srgbClr val="F2B84B"/>
      </a:accent1>
      <a:accent2>
        <a:srgbClr val="1F5FBF"/>
      </a:accent2>
      <a:accent3>
        <a:srgbClr val="8A5200"/>
      </a:accent3>
      <a:accent4>
        <a:srgbClr val="24365C"/>
      </a:accent4>
      <a:accent5>
        <a:srgbClr val="8A1C1C"/>
      </a:accent5>
      <a:accent6>
        <a:srgbClr val="3D4A61"/>
      </a:accent6>
      <a:hlink>
        <a:srgbClr val="0563C1"/>
      </a:hlink>
      <a:folHlink>
        <a:srgbClr val="954F72"/>
      </a:folHlink>
    </a:clrScheme>
    <a:fontScheme name="Policy gateway: design and build summar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 gateway: design and build summary</dc:title>
  <dc:subject/>
  <dc:creator/>
  <cp:lastModifiedBy/>
  <cp:revision>1</cp:revision>
  <dcterms:created xsi:type="dcterms:W3CDTF">2026-10-05T04:10:00Z</dcterms:created>
  <dcterms:modified xsi:type="dcterms:W3CDTF">2026-10-05T04:10:00Z</dcterms:modified>
</cp:coreProperties>
</file>